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309" r:id="rId3"/>
    <p:sldId id="310" r:id="rId4"/>
    <p:sldId id="283" r:id="rId5"/>
    <p:sldId id="280" r:id="rId6"/>
    <p:sldId id="293" r:id="rId7"/>
    <p:sldId id="292" r:id="rId8"/>
    <p:sldId id="294" r:id="rId9"/>
    <p:sldId id="260" r:id="rId10"/>
    <p:sldId id="281" r:id="rId11"/>
    <p:sldId id="302" r:id="rId12"/>
    <p:sldId id="295" r:id="rId13"/>
    <p:sldId id="284" r:id="rId14"/>
    <p:sldId id="303" r:id="rId15"/>
    <p:sldId id="296" r:id="rId16"/>
    <p:sldId id="286" r:id="rId17"/>
    <p:sldId id="287" r:id="rId18"/>
    <p:sldId id="304" r:id="rId19"/>
    <p:sldId id="297" r:id="rId20"/>
    <p:sldId id="305" r:id="rId21"/>
    <p:sldId id="285" r:id="rId22"/>
    <p:sldId id="289" r:id="rId23"/>
    <p:sldId id="306" r:id="rId24"/>
    <p:sldId id="308" r:id="rId25"/>
    <p:sldId id="307" r:id="rId26"/>
    <p:sldId id="290" r:id="rId27"/>
    <p:sldId id="301" r:id="rId28"/>
    <p:sldId id="299" r:id="rId29"/>
    <p:sldId id="300" r:id="rId30"/>
    <p:sldId id="291" r:id="rId31"/>
    <p:sldId id="270" r:id="rId32"/>
  </p:sldIdLst>
  <p:sldSz cx="12192000" cy="6858000"/>
  <p:notesSz cx="6858000" cy="9144000"/>
  <p:custDataLst>
    <p:tags r:id="rId34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C3C2611-4C71-4FC5-86AE-919BDF0F9419}" styleName="">
    <a:wholeTbl>
      <a:tcTxStyle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Style>
        <a:tcBdr/>
        <a:fill>
          <a:solidFill>
            <a:srgbClr val="E9EFF7"/>
          </a:solidFill>
        </a:fill>
      </a:tcStyle>
    </a:band2H>
    <a:firstCol>
      <a:tcTxStyle b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05"/>
    <p:restoredTop sz="94719"/>
  </p:normalViewPr>
  <p:slideViewPr>
    <p:cSldViewPr snapToGrid="0">
      <p:cViewPr varScale="1">
        <p:scale>
          <a:sx n="152" d="100"/>
          <a:sy n="152" d="100"/>
        </p:scale>
        <p:origin x="10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宋体" pitchFamily="2" charset="-122"/>
      </a:defRPr>
    </a:lvl1pPr>
    <a:lvl2pPr indent="228600" latinLnBrk="0">
      <a:defRPr sz="1200">
        <a:latin typeface="+mj-lt"/>
        <a:ea typeface="+mj-ea"/>
        <a:cs typeface="+mj-cs"/>
        <a:sym typeface="宋体" pitchFamily="2" charset="-122"/>
      </a:defRPr>
    </a:lvl2pPr>
    <a:lvl3pPr indent="457200" latinLnBrk="0">
      <a:defRPr sz="1200">
        <a:latin typeface="+mj-lt"/>
        <a:ea typeface="+mj-ea"/>
        <a:cs typeface="+mj-cs"/>
        <a:sym typeface="宋体" pitchFamily="2" charset="-122"/>
      </a:defRPr>
    </a:lvl3pPr>
    <a:lvl4pPr indent="685800" latinLnBrk="0">
      <a:defRPr sz="1200">
        <a:latin typeface="+mj-lt"/>
        <a:ea typeface="+mj-ea"/>
        <a:cs typeface="+mj-cs"/>
        <a:sym typeface="宋体" pitchFamily="2" charset="-122"/>
      </a:defRPr>
    </a:lvl4pPr>
    <a:lvl5pPr indent="914400" latinLnBrk="0">
      <a:defRPr sz="1200">
        <a:latin typeface="+mj-lt"/>
        <a:ea typeface="+mj-ea"/>
        <a:cs typeface="+mj-cs"/>
        <a:sym typeface="宋体" pitchFamily="2" charset="-122"/>
      </a:defRPr>
    </a:lvl5pPr>
    <a:lvl6pPr indent="1143000" latinLnBrk="0">
      <a:defRPr sz="1200">
        <a:latin typeface="+mj-lt"/>
        <a:ea typeface="+mj-ea"/>
        <a:cs typeface="+mj-cs"/>
        <a:sym typeface="宋体" pitchFamily="2" charset="-122"/>
      </a:defRPr>
    </a:lvl6pPr>
    <a:lvl7pPr indent="1371600" latinLnBrk="0">
      <a:defRPr sz="1200">
        <a:latin typeface="+mj-lt"/>
        <a:ea typeface="+mj-ea"/>
        <a:cs typeface="+mj-cs"/>
        <a:sym typeface="宋体" pitchFamily="2" charset="-122"/>
      </a:defRPr>
    </a:lvl7pPr>
    <a:lvl8pPr indent="1600200" latinLnBrk="0">
      <a:defRPr sz="1200">
        <a:latin typeface="+mj-lt"/>
        <a:ea typeface="+mj-ea"/>
        <a:cs typeface="+mj-cs"/>
        <a:sym typeface="宋体" pitchFamily="2" charset="-122"/>
      </a:defRPr>
    </a:lvl8pPr>
    <a:lvl9pPr indent="1828800" latinLnBrk="0">
      <a:defRPr sz="1200">
        <a:latin typeface="+mj-lt"/>
        <a:ea typeface="+mj-ea"/>
        <a:cs typeface="+mj-cs"/>
        <a:sym typeface="宋体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240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1235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单击此处添加标题"/>
          <p:cNvSpPr txBox="1">
            <a:spLocks noGrp="1"/>
          </p:cNvSpPr>
          <p:nvPr>
            <p:ph type="title" hasCustomPrompt="1"/>
          </p:nvPr>
        </p:nvSpPr>
        <p:spPr>
          <a:xfrm>
            <a:off x="1524000" y="1322961"/>
            <a:ext cx="9144000" cy="2187002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130000"/>
              </a:lnSpc>
              <a:defRPr sz="6000"/>
            </a:lvl1pPr>
          </a:lstStyle>
          <a:p>
            <a:r>
              <a:t>单击此处添加标题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1pPr>
            <a:lvl2pPr marL="0" indent="45720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2pPr>
            <a:lvl3pPr marL="0" indent="91440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3pPr>
            <a:lvl4pPr marL="0" indent="137160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4pPr>
            <a:lvl5pPr marL="0" indent="1828800" algn="ctr">
              <a:buSzTx/>
              <a:buFontTx/>
              <a:buNone/>
              <a:defRPr sz="24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单击此处添加副标题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1849" y="469126"/>
            <a:ext cx="10307927" cy="409334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610027"/>
            <a:ext cx="10307926" cy="64755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000000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000000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000000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000000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744960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>
                <a:solidFill>
                  <a:srgbClr val="000000"/>
                </a:solidFill>
              </a:defRPr>
            </a:lvl1pPr>
            <a:lvl2pPr marL="0" indent="457200">
              <a:buSzTx/>
              <a:buFontTx/>
              <a:buNone/>
              <a:defRPr>
                <a:solidFill>
                  <a:srgbClr val="000000"/>
                </a:solidFill>
              </a:defRPr>
            </a:lvl2pPr>
            <a:lvl3pPr marL="0" indent="914400">
              <a:buSzTx/>
              <a:buFontTx/>
              <a:buNone/>
              <a:defRPr>
                <a:solidFill>
                  <a:srgbClr val="000000"/>
                </a:solidFill>
              </a:defRPr>
            </a:lvl3pPr>
            <a:lvl4pPr marL="0" indent="1371600">
              <a:buSzTx/>
              <a:buFontTx/>
              <a:buNone/>
              <a:defRPr>
                <a:solidFill>
                  <a:srgbClr val="000000"/>
                </a:solidFill>
              </a:defRPr>
            </a:lvl4pPr>
            <a:lvl5pPr marL="0" indent="1828800">
              <a:buSzTx/>
              <a:buFontTx/>
              <a:buNone/>
              <a:defRPr>
                <a:solidFill>
                  <a:srgbClr val="00000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172200" y="1744960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1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单击此处编辑标题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999" y="766353"/>
            <a:ext cx="5817376" cy="50944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51826" y="2057400"/>
            <a:ext cx="4165202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1pPr>
            <a:lvl2pPr marL="0" indent="45720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2pPr>
            <a:lvl3pPr marL="0" indent="91440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3pPr>
            <a:lvl4pPr marL="0" indent="137160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4pPr>
            <a:lvl5pPr marL="0" indent="1828800">
              <a:lnSpc>
                <a:spcPct val="150000"/>
              </a:lnSpc>
              <a:buSzTx/>
              <a:buFontTx/>
              <a:buNone/>
              <a:defRPr sz="2000">
                <a:solidFill>
                  <a:srgbClr val="00000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551542"/>
            <a:ext cx="10515600" cy="55589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norm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3" name="文本框 14"/>
          <p:cNvSpPr txBox="1"/>
          <p:nvPr/>
        </p:nvSpPr>
        <p:spPr>
          <a:xfrm>
            <a:off x="548004" y="2125662"/>
            <a:ext cx="9451673" cy="83099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4800" spc="448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dirty="0"/>
              <a:t>单个</a:t>
            </a:r>
            <a:r>
              <a:rPr lang="en-US" altLang="zh-CN" dirty="0" err="1"/>
              <a:t>cpu</a:t>
            </a:r>
            <a:r>
              <a:rPr lang="zh-CN" altLang="en-US" dirty="0"/>
              <a:t>上的通用矩阵乘法优化</a:t>
            </a:r>
            <a:endParaRPr lang="zh-CN" dirty="0"/>
          </a:p>
        </p:txBody>
      </p:sp>
      <p:sp>
        <p:nvSpPr>
          <p:cNvPr id="94" name="文本框 16"/>
          <p:cNvSpPr txBox="1"/>
          <p:nvPr/>
        </p:nvSpPr>
        <p:spPr>
          <a:xfrm>
            <a:off x="623252" y="3418205"/>
            <a:ext cx="3735706" cy="64633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pc="99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lvl1pPr>
          </a:lstStyle>
          <a:p>
            <a:pPr algn="l"/>
            <a:r>
              <a:rPr lang="zh-CN" dirty="0"/>
              <a:t>汇报人：</a:t>
            </a:r>
            <a:r>
              <a:rPr lang="zh-CN" altLang="en-US" dirty="0"/>
              <a:t>刘代宸</a:t>
            </a:r>
          </a:p>
          <a:p>
            <a:pPr algn="l"/>
            <a:r>
              <a:rPr lang="zh-CN" altLang="en-US" dirty="0"/>
              <a:t>时间：</a:t>
            </a:r>
            <a:r>
              <a:rPr lang="en-US" altLang="zh-CN" dirty="0"/>
              <a:t>2024.9.5</a:t>
            </a:r>
            <a:endParaRPr lang="zh-CN" altLang="en-US" dirty="0"/>
          </a:p>
        </p:txBody>
      </p:sp>
      <p:sp>
        <p:nvSpPr>
          <p:cNvPr id="95" name="文本框 6"/>
          <p:cNvSpPr txBox="1"/>
          <p:nvPr/>
        </p:nvSpPr>
        <p:spPr>
          <a:xfrm>
            <a:off x="10645774" y="245745"/>
            <a:ext cx="1252551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400">
                <a:solidFill>
                  <a:srgbClr val="BFBFBF"/>
                </a:solidFill>
                <a:latin typeface="DIN-Medium"/>
                <a:ea typeface="DIN-Medium"/>
                <a:cs typeface="DIN-Medium"/>
                <a:sym typeface="DIN-Medium"/>
              </a:defRPr>
            </a:lvl1pPr>
          </a:lstStyle>
          <a:p>
            <a:r>
              <a:t>yuansuan.com</a:t>
            </a:r>
          </a:p>
        </p:txBody>
      </p:sp>
      <p:pic>
        <p:nvPicPr>
          <p:cNvPr id="96" name="图片 12" descr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3515" y="578865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7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r>
              <a:t>跨界融合 · </a:t>
            </a:r>
            <a:r>
              <a:rPr lang="zh-CN"/>
              <a:t>创造价值</a:t>
            </a:r>
            <a:r>
              <a:t> · </a:t>
            </a:r>
            <a:r>
              <a:rPr lang="zh-CN"/>
              <a:t>成就客户</a:t>
            </a:r>
            <a:r>
              <a:t> · </a:t>
            </a:r>
            <a:r>
              <a:rPr lang="zh-CN"/>
              <a:t>定义专业</a:t>
            </a:r>
          </a:p>
        </p:txBody>
      </p:sp>
      <p:sp>
        <p:nvSpPr>
          <p:cNvPr id="98" name="线条"/>
          <p:cNvSpPr/>
          <p:nvPr/>
        </p:nvSpPr>
        <p:spPr>
          <a:xfrm>
            <a:off x="635000" y="3247707"/>
            <a:ext cx="4446270" cy="1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00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" y="367972"/>
            <a:ext cx="1198881" cy="478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1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5456181"/>
            <a:ext cx="1252551" cy="94118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通用矩阵乘法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Matrix Multiply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772FD3D3-0A90-F17F-0C88-927B4E28F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441" y="3921393"/>
            <a:ext cx="5443218" cy="2534362"/>
          </a:xfrm>
          <a:prstGeom prst="rect">
            <a:avLst/>
          </a:prstGeom>
        </p:spPr>
      </p:pic>
      <p:pic>
        <p:nvPicPr>
          <p:cNvPr id="1026" name="Picture 2" descr="gemm_corrected">
            <a:extLst>
              <a:ext uri="{FF2B5EF4-FFF2-40B4-BE49-F238E27FC236}">
                <a16:creationId xmlns:a16="http://schemas.microsoft.com/office/drawing/2014/main" id="{A58F9D0F-519B-4F9F-0B7A-A6E14C6BF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11" y="1039765"/>
            <a:ext cx="5443218" cy="222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B735A5-E2BD-EC3E-9680-85376BA7E998}"/>
                  </a:ext>
                </a:extLst>
              </p:cNvPr>
              <p:cNvSpPr txBox="1"/>
              <p:nvPr/>
            </p:nvSpPr>
            <p:spPr>
              <a:xfrm>
                <a:off x="1220560" y="3389993"/>
                <a:ext cx="5346366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zh-CN" altLang="en-US" dirty="0"/>
                  <a:t>朴素算法的时间复杂度：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kumimoji="0" lang="zh-CN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B735A5-E2BD-EC3E-9680-85376BA7E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560" y="3389993"/>
                <a:ext cx="5346366" cy="276999"/>
              </a:xfrm>
              <a:prstGeom prst="rect">
                <a:avLst/>
              </a:prstGeom>
              <a:blipFill>
                <a:blip r:embed="rId6"/>
                <a:stretch>
                  <a:fillRect l="-2850" t="-21739" b="-47826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62824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通用矩阵乘法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Matrix Multiply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B5028F-8E05-E336-9432-2FAD284005CF}"/>
              </a:ext>
            </a:extLst>
          </p:cNvPr>
          <p:cNvSpPr txBox="1"/>
          <p:nvPr/>
        </p:nvSpPr>
        <p:spPr>
          <a:xfrm>
            <a:off x="1126729" y="1451001"/>
            <a:ext cx="9420594" cy="166199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/>
              <a:t>工作需求：</a:t>
            </a: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在不改变理论算法复杂度的情况下，通过内存优化、</a:t>
            </a: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SIMD</a:t>
            </a: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等优化手段优化单线程下的</a:t>
            </a: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GEMM</a:t>
            </a: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。</a:t>
            </a:r>
            <a:endParaRPr kumimoji="0" lang="en-US" altLang="zh-C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/>
              <a:t>完成情况</a:t>
            </a: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endParaRPr kumimoji="0" lang="en-US" altLang="zh-C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D3095217-647F-571D-C257-4632A2B63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12" y="2030264"/>
            <a:ext cx="5686894" cy="426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2879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0" y="562565"/>
            <a:ext cx="4785065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基础概念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Major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olumn-major vs row-major arrays: Does it matter? – The Craft of Coding">
            <a:extLst>
              <a:ext uri="{FF2B5EF4-FFF2-40B4-BE49-F238E27FC236}">
                <a16:creationId xmlns:a16="http://schemas.microsoft.com/office/drawing/2014/main" id="{C11DB434-AA82-C03C-76EE-DF1164539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35220"/>
            <a:ext cx="8047839" cy="461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57866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6" y="252246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0" y="562565"/>
            <a:ext cx="5363905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基础概念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Dimension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Basics and Practice of Linear Algebra Calculation Library BLAS and ...">
            <a:extLst>
              <a:ext uri="{FF2B5EF4-FFF2-40B4-BE49-F238E27FC236}">
                <a16:creationId xmlns:a16="http://schemas.microsoft.com/office/drawing/2014/main" id="{6FCFC871-ACBA-00BC-A5DE-117501E51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341" y="1523571"/>
            <a:ext cx="4325296" cy="330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2906FE7-AB1A-71D5-5F18-2B8273EBBD79}"/>
              </a:ext>
            </a:extLst>
          </p:cNvPr>
          <p:cNvSpPr txBox="1"/>
          <p:nvPr/>
        </p:nvSpPr>
        <p:spPr>
          <a:xfrm>
            <a:off x="1183341" y="5415629"/>
            <a:ext cx="8982636" cy="55399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</a:t>
            </a:r>
            <a:r>
              <a:rPr kumimoji="0" lang="en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www.intel.com</a:t>
            </a:r>
            <a:r>
              <a:rPr kumimoji="0" lang="en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/content/www/us/</a:t>
            </a:r>
            <a:r>
              <a:rPr kumimoji="0" lang="en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</a:t>
            </a:r>
            <a:r>
              <a:rPr kumimoji="0" lang="en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/docs/</a:t>
            </a:r>
            <a:r>
              <a:rPr kumimoji="0" lang="en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onemkl</a:t>
            </a:r>
            <a:r>
              <a:rPr kumimoji="0" lang="en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/developer-guide-windows/2024-2/coding-</a:t>
            </a:r>
            <a:r>
              <a:rPr kumimoji="0" lang="en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techniques.html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E61BDF-A93A-47AA-38B5-76990935E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091" y="2556088"/>
            <a:ext cx="4012620" cy="79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08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6" y="252246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29134"/>
            <a:ext cx="545618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基础概念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Dimension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906FE7-AB1A-71D5-5F18-2B8273EBBD79}"/>
              </a:ext>
            </a:extLst>
          </p:cNvPr>
          <p:cNvSpPr txBox="1"/>
          <p:nvPr/>
        </p:nvSpPr>
        <p:spPr>
          <a:xfrm>
            <a:off x="1183341" y="5415629"/>
            <a:ext cx="8982636" cy="55399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</a:t>
            </a:r>
            <a:r>
              <a:rPr kumimoji="0" lang="en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www.intel.com</a:t>
            </a:r>
            <a:r>
              <a:rPr kumimoji="0" lang="en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/content/www/us/</a:t>
            </a:r>
            <a:r>
              <a:rPr kumimoji="0" lang="en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</a:t>
            </a:r>
            <a:r>
              <a:rPr kumimoji="0" lang="en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/docs/</a:t>
            </a:r>
            <a:r>
              <a:rPr kumimoji="0" lang="en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onemkl</a:t>
            </a:r>
            <a:r>
              <a:rPr kumimoji="0" lang="en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/developer-guide-windows/2024-2/coding-</a:t>
            </a:r>
            <a:r>
              <a:rPr kumimoji="0" lang="en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techniques.html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图片 2" descr="手机屏幕截图&#10;&#10;描述已自动生成">
            <a:extLst>
              <a:ext uri="{FF2B5EF4-FFF2-40B4-BE49-F238E27FC236}">
                <a16:creationId xmlns:a16="http://schemas.microsoft.com/office/drawing/2014/main" id="{A1DFECE2-7B93-E08E-0278-FA1BB4925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86" y="1158447"/>
            <a:ext cx="9428725" cy="381796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25E9DA4-D732-5FF2-FC4D-04A059963DDF}"/>
              </a:ext>
            </a:extLst>
          </p:cNvPr>
          <p:cNvSpPr/>
          <p:nvPr/>
        </p:nvSpPr>
        <p:spPr>
          <a:xfrm>
            <a:off x="1823492" y="3429000"/>
            <a:ext cx="5004000" cy="108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445EDC-C33D-1413-A9A4-5CF864DC0F54}"/>
              </a:ext>
            </a:extLst>
          </p:cNvPr>
          <p:cNvSpPr/>
          <p:nvPr/>
        </p:nvSpPr>
        <p:spPr>
          <a:xfrm>
            <a:off x="2531703" y="4389201"/>
            <a:ext cx="6755732" cy="108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017768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508" y="151002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5842078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基础概念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Dimension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B1F877-7501-925A-ED8B-EE9D75FA5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367" y="1177407"/>
            <a:ext cx="6589011" cy="24265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E7FCD3-E14E-F19D-93CD-10DABE321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368" y="3986321"/>
            <a:ext cx="6589010" cy="23091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0E2F5D7-0F8A-36EF-8600-DF1EA478E9E6}"/>
              </a:ext>
            </a:extLst>
          </p:cNvPr>
          <p:cNvSpPr txBox="1"/>
          <p:nvPr/>
        </p:nvSpPr>
        <p:spPr>
          <a:xfrm>
            <a:off x="818781" y="2248313"/>
            <a:ext cx="2050254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LD = 2048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AC7247-220C-962E-EFBB-E6A420EAB662}"/>
              </a:ext>
            </a:extLst>
          </p:cNvPr>
          <p:cNvSpPr txBox="1"/>
          <p:nvPr/>
        </p:nvSpPr>
        <p:spPr>
          <a:xfrm>
            <a:off x="818781" y="4863879"/>
            <a:ext cx="2050254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LD = MAXSIZE + 64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4821DB-AF23-9D40-FB30-78BBCDCD36AF}"/>
              </a:ext>
            </a:extLst>
          </p:cNvPr>
          <p:cNvSpPr/>
          <p:nvPr/>
        </p:nvSpPr>
        <p:spPr>
          <a:xfrm>
            <a:off x="3598876" y="1802753"/>
            <a:ext cx="5050173" cy="144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0FA2D9-7BF0-1FA6-DFB8-3D46094D7EB2}"/>
              </a:ext>
            </a:extLst>
          </p:cNvPr>
          <p:cNvSpPr/>
          <p:nvPr/>
        </p:nvSpPr>
        <p:spPr>
          <a:xfrm>
            <a:off x="3598876" y="4581244"/>
            <a:ext cx="5050173" cy="108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5E9DA4-D732-5FF2-FC4D-04A059963DDF}"/>
              </a:ext>
            </a:extLst>
          </p:cNvPr>
          <p:cNvSpPr/>
          <p:nvPr/>
        </p:nvSpPr>
        <p:spPr>
          <a:xfrm>
            <a:off x="3715324" y="2426028"/>
            <a:ext cx="5371509" cy="25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C9EE79-A238-BC10-D127-1E8B7483F3E4}"/>
              </a:ext>
            </a:extLst>
          </p:cNvPr>
          <p:cNvSpPr/>
          <p:nvPr/>
        </p:nvSpPr>
        <p:spPr>
          <a:xfrm>
            <a:off x="3598876" y="5176783"/>
            <a:ext cx="5371509" cy="25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0564758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6" y="252246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0" y="562565"/>
            <a:ext cx="6225311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基础概念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D72706DA-6B4F-4A33-63E0-91CA8CCDC0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81" y="1234634"/>
            <a:ext cx="6225312" cy="466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1624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4326890" cy="5017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1 – Brute Force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772FD3D3-0A90-F17F-0C88-927B4E28F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594" y="3667894"/>
            <a:ext cx="5443218" cy="2534362"/>
          </a:xfrm>
          <a:prstGeom prst="rect">
            <a:avLst/>
          </a:prstGeom>
        </p:spPr>
      </p:pic>
      <p:pic>
        <p:nvPicPr>
          <p:cNvPr id="1026" name="Picture 2" descr="gemm_corrected">
            <a:extLst>
              <a:ext uri="{FF2B5EF4-FFF2-40B4-BE49-F238E27FC236}">
                <a16:creationId xmlns:a16="http://schemas.microsoft.com/office/drawing/2014/main" id="{A58F9D0F-519B-4F9F-0B7A-A6E14C6BF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808" y="1334800"/>
            <a:ext cx="5443218" cy="222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2 –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循环展开（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op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88A1A0-E453-E4C2-9AD0-60080FC24083}"/>
                  </a:ext>
                </a:extLst>
              </p:cNvPr>
              <p:cNvSpPr txBox="1"/>
              <p:nvPr/>
            </p:nvSpPr>
            <p:spPr>
              <a:xfrm>
                <a:off x="1254154" y="1848349"/>
                <a:ext cx="8106963" cy="190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 panose="020F0502020204030204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0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kumimoji="0" lang="en-US" altLang="zh-CN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Calibri" panose="020F0502020204030204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Calibri" panose="020F0502020204030204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altLang="zh-CN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Calibri" panose="020F0502020204030204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Calibri" panose="020F0502020204030204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Calibri" panose="020F0502020204030204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0" lang="en-US" altLang="zh-CN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Calibri" panose="020F0502020204030204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eqArr>
                          </m:e>
                        </m:mr>
                      </m:m>
                      <m:r>
                        <a:rPr kumimoji="0" lang="en-US" altLang="zh-CN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Calibri" panose="020F0502020204030204"/>
                        </a:rPr>
                        <m:t> × 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 panose="020F0502020204030204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3</m:t>
                                </m:r>
                              </m:sub>
                            </m:sSub>
                          </m:e>
                        </m:mr>
                      </m:m>
                      <m:r>
                        <a:rPr kumimoji="0" lang="en-US" altLang="zh-CN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Calibri" panose="020F0502020204030204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 panose="020F0502020204030204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0</m:t>
                                </m:r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01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02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03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10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11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12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13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20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23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30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31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32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en-US" altLang="zh-CN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Calibri" panose="020F0502020204030204"/>
                                  </a:rPr>
                                  <m:t>33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kumimoji="0" lang="zh-CN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88A1A0-E453-E4C2-9AD0-60080FC24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154" y="1848349"/>
                <a:ext cx="8106963" cy="1906997"/>
              </a:xfrm>
              <a:prstGeom prst="rect">
                <a:avLst/>
              </a:prstGeom>
              <a:blipFill>
                <a:blip r:embed="rId5"/>
                <a:stretch>
                  <a:fillRect l="-625" t="-662" b="-4636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6F1B443-0098-BACC-1D60-0C2828DD65BA}"/>
                  </a:ext>
                </a:extLst>
              </p:cNvPr>
              <p:cNvSpPr txBox="1"/>
              <p:nvPr/>
            </p:nvSpPr>
            <p:spPr>
              <a:xfrm>
                <a:off x="4167836" y="4774667"/>
                <a:ext cx="2279598" cy="53200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  <a:sym typeface="Calibri" panose="020F0502020204030204"/>
                            </a:rPr>
                          </m:ctrlPr>
                        </m:sSubPr>
                        <m:e>
                          <m: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  <a:sym typeface="Calibri" panose="020F0502020204030204"/>
                            </a:rPr>
                            <m:t>𝐶</m:t>
                          </m:r>
                        </m:e>
                        <m:sub>
                          <m: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  <a:sym typeface="Calibri" panose="020F0502020204030204"/>
                            </a:rPr>
                            <m:t>𝑖𝑗</m:t>
                          </m:r>
                        </m:sub>
                      </m:sSub>
                      <m:r>
                        <a:rPr kumimoji="0" lang="en-US" altLang="zh-CN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  <a:sym typeface="Calibri" panose="020F0502020204030204"/>
                            </a:rPr>
                          </m:ctrlPr>
                        </m:sSubPr>
                        <m:e>
                          <m: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  <a:sym typeface="Calibri" panose="020F0502020204030204"/>
                            </a:rPr>
                            <m:t>𝐴</m:t>
                          </m:r>
                        </m:e>
                        <m:sub>
                          <m: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  <a:sym typeface="Calibri" panose="020F0502020204030204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32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m:t>∗</m:t>
                      </m:r>
                      <m:sSub>
                        <m:sSubPr>
                          <m:ctrlP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  <a:sym typeface="Calibri" panose="020F0502020204030204"/>
                            </a:rPr>
                          </m:ctrlPr>
                        </m:sSubPr>
                        <m:e>
                          <m: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  <a:sym typeface="Calibri" panose="020F0502020204030204"/>
                            </a:rPr>
                            <m:t>𝐵</m:t>
                          </m:r>
                        </m:e>
                        <m:sub>
                          <m:r>
                            <a:rPr kumimoji="0" lang="en-US" altLang="zh-CN" sz="32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libri" panose="020F0502020204030204"/>
                              <a:sym typeface="Calibri" panose="020F0502020204030204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6F1B443-0098-BACC-1D60-0C2828DD6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836" y="4774667"/>
                <a:ext cx="2279598" cy="532005"/>
              </a:xfrm>
              <a:prstGeom prst="rect">
                <a:avLst/>
              </a:prstGeom>
              <a:blipFill>
                <a:blip r:embed="rId6"/>
                <a:stretch>
                  <a:fillRect l="-3889" r="-2222" b="-22727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58982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2 –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471789-6E00-EC22-1B7A-96C4BE3CF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50" y="1359732"/>
            <a:ext cx="4362506" cy="4431890"/>
          </a:xfrm>
          <a:prstGeom prst="rect">
            <a:avLst/>
          </a:prstGeom>
        </p:spPr>
      </p:pic>
      <p:pic>
        <p:nvPicPr>
          <p:cNvPr id="2" name="图片 1" descr="文本&#10;&#10;描述已自动生成">
            <a:extLst>
              <a:ext uri="{FF2B5EF4-FFF2-40B4-BE49-F238E27FC236}">
                <a16:creationId xmlns:a16="http://schemas.microsoft.com/office/drawing/2014/main" id="{D09E83AE-2190-BDC1-7CCC-5B2373AD9A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8"/>
          <a:stretch/>
        </p:blipFill>
        <p:spPr>
          <a:xfrm>
            <a:off x="224118" y="2009420"/>
            <a:ext cx="5100918" cy="2534362"/>
          </a:xfrm>
          <a:prstGeom prst="rect">
            <a:avLst/>
          </a:prstGeom>
        </p:spPr>
      </p:pic>
      <p:sp>
        <p:nvSpPr>
          <p:cNvPr id="3" name="右箭头 2">
            <a:extLst>
              <a:ext uri="{FF2B5EF4-FFF2-40B4-BE49-F238E27FC236}">
                <a16:creationId xmlns:a16="http://schemas.microsoft.com/office/drawing/2014/main" id="{FB17FAA6-A210-7232-6D26-A72F404948AB}"/>
              </a:ext>
            </a:extLst>
          </p:cNvPr>
          <p:cNvSpPr/>
          <p:nvPr/>
        </p:nvSpPr>
        <p:spPr>
          <a:xfrm>
            <a:off x="5503187" y="2940424"/>
            <a:ext cx="1028111" cy="672353"/>
          </a:xfrm>
          <a:prstGeom prst="right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1C8D4-F41F-A039-E57E-CBCB12FE4B63}"/>
              </a:ext>
            </a:extLst>
          </p:cNvPr>
          <p:cNvSpPr/>
          <p:nvPr/>
        </p:nvSpPr>
        <p:spPr>
          <a:xfrm>
            <a:off x="424499" y="2580424"/>
            <a:ext cx="2628000" cy="54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EBBD09-B1C9-12F6-0560-A3B923E33F7B}"/>
              </a:ext>
            </a:extLst>
          </p:cNvPr>
          <p:cNvSpPr/>
          <p:nvPr/>
        </p:nvSpPr>
        <p:spPr>
          <a:xfrm>
            <a:off x="6834728" y="1373015"/>
            <a:ext cx="2628000" cy="54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6069338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4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2 – perf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指标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5923A9-42B7-E6B8-4529-937010BA8958}"/>
              </a:ext>
            </a:extLst>
          </p:cNvPr>
          <p:cNvSpPr txBox="1"/>
          <p:nvPr/>
        </p:nvSpPr>
        <p:spPr>
          <a:xfrm>
            <a:off x="7396779" y="1523571"/>
            <a:ext cx="3471389" cy="830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减少分支预测。</a:t>
            </a: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(</a:t>
            </a:r>
            <a:r>
              <a:rPr kumimoji="0" lang="en-US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i</a:t>
            </a: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+=4, j+=4)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缓存友好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cache-friendly.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（仅对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矩阵而言）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D87D70-1A4A-78AC-67C3-89D542917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52" y="1191122"/>
            <a:ext cx="6269903" cy="23829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0A6C244-8608-FF19-CEA1-85DF320E2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52" y="3736901"/>
            <a:ext cx="6269903" cy="234477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D8E9DED-2B5C-EABB-A475-BC78F2E48906}"/>
              </a:ext>
            </a:extLst>
          </p:cNvPr>
          <p:cNvSpPr/>
          <p:nvPr/>
        </p:nvSpPr>
        <p:spPr>
          <a:xfrm>
            <a:off x="818781" y="1695402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3D9046-A3E9-178F-2CC5-4169FABB62F5}"/>
              </a:ext>
            </a:extLst>
          </p:cNvPr>
          <p:cNvSpPr/>
          <p:nvPr/>
        </p:nvSpPr>
        <p:spPr>
          <a:xfrm>
            <a:off x="818781" y="2193924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8E9DED-2B5C-EABB-A475-BC78F2E48906}"/>
              </a:ext>
            </a:extLst>
          </p:cNvPr>
          <p:cNvSpPr/>
          <p:nvPr/>
        </p:nvSpPr>
        <p:spPr>
          <a:xfrm>
            <a:off x="839646" y="4226153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E9DED-2B5C-EABB-A475-BC78F2E48906}"/>
              </a:ext>
            </a:extLst>
          </p:cNvPr>
          <p:cNvSpPr/>
          <p:nvPr/>
        </p:nvSpPr>
        <p:spPr>
          <a:xfrm>
            <a:off x="818781" y="4749032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8E9DED-2B5C-EABB-A475-BC78F2E48906}"/>
              </a:ext>
            </a:extLst>
          </p:cNvPr>
          <p:cNvSpPr/>
          <p:nvPr/>
        </p:nvSpPr>
        <p:spPr>
          <a:xfrm>
            <a:off x="818781" y="2639632"/>
            <a:ext cx="2628000" cy="25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E1EFC7-55BC-F1E6-F7C4-19668FDC714D}"/>
              </a:ext>
            </a:extLst>
          </p:cNvPr>
          <p:cNvSpPr/>
          <p:nvPr/>
        </p:nvSpPr>
        <p:spPr>
          <a:xfrm>
            <a:off x="818781" y="5207912"/>
            <a:ext cx="2628000" cy="25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255758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2 –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结果对比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图形用户界面, 图表&#10;&#10;描述已自动生成">
            <a:extLst>
              <a:ext uri="{FF2B5EF4-FFF2-40B4-BE49-F238E27FC236}">
                <a16:creationId xmlns:a16="http://schemas.microsoft.com/office/drawing/2014/main" id="{4609955D-7D02-0E1A-F840-A1B69737C6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418" y="1345827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4605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3 – Register + Column Pointer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546F33-EFF8-D40B-37DA-EE63791D6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513" y="1064049"/>
            <a:ext cx="2301768" cy="570155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0FD13A1-C0C9-11A4-171A-ED9039658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74" y="1523571"/>
            <a:ext cx="4362506" cy="4431890"/>
          </a:xfrm>
          <a:prstGeom prst="rect">
            <a:avLst/>
          </a:prstGeom>
        </p:spPr>
      </p:pic>
      <p:sp>
        <p:nvSpPr>
          <p:cNvPr id="5" name="右箭头 4">
            <a:extLst>
              <a:ext uri="{FF2B5EF4-FFF2-40B4-BE49-F238E27FC236}">
                <a16:creationId xmlns:a16="http://schemas.microsoft.com/office/drawing/2014/main" id="{E77F7BA2-51EC-F379-0B1D-4B4FE6D2C463}"/>
              </a:ext>
            </a:extLst>
          </p:cNvPr>
          <p:cNvSpPr/>
          <p:nvPr/>
        </p:nvSpPr>
        <p:spPr>
          <a:xfrm>
            <a:off x="5503187" y="2940424"/>
            <a:ext cx="1028111" cy="672353"/>
          </a:xfrm>
          <a:prstGeom prst="right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8741135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3 –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指标对比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5923A9-42B7-E6B8-4529-937010BA8958}"/>
              </a:ext>
            </a:extLst>
          </p:cNvPr>
          <p:cNvSpPr txBox="1"/>
          <p:nvPr/>
        </p:nvSpPr>
        <p:spPr>
          <a:xfrm>
            <a:off x="7158053" y="1523571"/>
            <a:ext cx="3471389" cy="110799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利用寄存器减少索引操作，避免了不必要的内存访问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为</a:t>
            </a: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B</a:t>
            </a: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矩阵的每一列建一个指针，按列访问是</a:t>
            </a: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cache-friendly</a:t>
            </a: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的。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913FA2-DA0B-8F33-DC0C-E35F5EF7D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81" y="3673801"/>
            <a:ext cx="6269903" cy="250129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20D3C80-9409-4524-FA8A-FCCFF96CD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81" y="1196539"/>
            <a:ext cx="6269903" cy="234477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2F4976B-4505-8128-C10D-0C728AF7C7D8}"/>
              </a:ext>
            </a:extLst>
          </p:cNvPr>
          <p:cNvSpPr/>
          <p:nvPr/>
        </p:nvSpPr>
        <p:spPr>
          <a:xfrm>
            <a:off x="818781" y="1695402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12048B-31EE-C305-8F74-CB601BCBC6B5}"/>
              </a:ext>
            </a:extLst>
          </p:cNvPr>
          <p:cNvSpPr/>
          <p:nvPr/>
        </p:nvSpPr>
        <p:spPr>
          <a:xfrm>
            <a:off x="818781" y="4384814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998427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3 –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性能对比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 descr="图表, 折线图&#10;&#10;描述已自动生成">
            <a:extLst>
              <a:ext uri="{FF2B5EF4-FFF2-40B4-BE49-F238E27FC236}">
                <a16:creationId xmlns:a16="http://schemas.microsoft.com/office/drawing/2014/main" id="{E104A8F2-883A-1172-3DFA-7C17C6DDBB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29" y="1238250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4312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6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4 – AVX2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458EB0-58D7-BF3D-5417-AFA4D9561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153" y="959222"/>
            <a:ext cx="3786539" cy="54881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4517569-9D80-94AC-3069-6B90B7701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2036" y="1046120"/>
            <a:ext cx="2301768" cy="5701553"/>
          </a:xfrm>
          <a:prstGeom prst="rect">
            <a:avLst/>
          </a:prstGeom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48A5611E-1799-B330-A908-CEA5DA26E3DB}"/>
              </a:ext>
            </a:extLst>
          </p:cNvPr>
          <p:cNvSpPr/>
          <p:nvPr/>
        </p:nvSpPr>
        <p:spPr>
          <a:xfrm>
            <a:off x="4871745" y="2940424"/>
            <a:ext cx="1028111" cy="672353"/>
          </a:xfrm>
          <a:prstGeom prst="right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5815852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4 –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性能对比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5923A9-42B7-E6B8-4529-937010BA8958}"/>
              </a:ext>
            </a:extLst>
          </p:cNvPr>
          <p:cNvSpPr txBox="1"/>
          <p:nvPr/>
        </p:nvSpPr>
        <p:spPr>
          <a:xfrm>
            <a:off x="7158053" y="1523571"/>
            <a:ext cx="3471389" cy="221599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_mm256d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类型的变量可以存放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。运用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AVX2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实现向量化。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lang="zh-CN" altLang="en-US" b="0" i="0" dirty="0">
                <a:solidFill>
                  <a:srgbClr val="FF0000"/>
                </a:solidFill>
                <a:effectLst/>
                <a:latin typeface="Source Han Serif"/>
              </a:rPr>
              <a:t>目前的方法在数据规模变大后性能都会有较大的下降，问题在于</a:t>
            </a:r>
            <a:r>
              <a:rPr lang="en" altLang="zh-CN" b="0" i="0" dirty="0">
                <a:solidFill>
                  <a:srgbClr val="FF0000"/>
                </a:solidFill>
                <a:effectLst/>
                <a:latin typeface="Source Han Serif"/>
              </a:rPr>
              <a:t>L2 Cache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Source Han Serif"/>
              </a:rPr>
              <a:t>大小有限，如果不停地访存很快会把</a:t>
            </a:r>
            <a:r>
              <a:rPr lang="en" altLang="zh-CN" b="0" i="0" dirty="0">
                <a:solidFill>
                  <a:srgbClr val="FF0000"/>
                </a:solidFill>
                <a:effectLst/>
                <a:latin typeface="Source Han Serif"/>
              </a:rPr>
              <a:t>L2 Cache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Source Han Serif"/>
              </a:rPr>
              <a:t>刷满一遍。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图表, 折线图&#10;&#10;描述已自动生成">
            <a:extLst>
              <a:ext uri="{FF2B5EF4-FFF2-40B4-BE49-F238E27FC236}">
                <a16:creationId xmlns:a16="http://schemas.microsoft.com/office/drawing/2014/main" id="{C7A59A1E-020E-9FD6-0313-FBB585233F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81" y="1389252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3173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性能对比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0CD3D62-2FC6-32EF-C706-F3C3DBCB2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81" y="3947875"/>
            <a:ext cx="6449820" cy="26305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0011FEE-F6A1-5AD9-6108-2B34C3C2D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81" y="1200781"/>
            <a:ext cx="6449820" cy="264293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0D0646F-AF88-B222-D609-ABDC239CF872}"/>
              </a:ext>
            </a:extLst>
          </p:cNvPr>
          <p:cNvSpPr/>
          <p:nvPr/>
        </p:nvSpPr>
        <p:spPr>
          <a:xfrm>
            <a:off x="971182" y="2439473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468F50-EABB-522A-27DF-E3C5BF6DFB08}"/>
              </a:ext>
            </a:extLst>
          </p:cNvPr>
          <p:cNvSpPr/>
          <p:nvPr/>
        </p:nvSpPr>
        <p:spPr>
          <a:xfrm>
            <a:off x="971182" y="5155779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9462872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5 – Blocking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1F5EAE9-8C76-7E0D-BA4D-EDC642AD1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467" y="3543086"/>
            <a:ext cx="6861347" cy="315307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B564BA9-CD5C-8B9A-B45B-4228FD690E4A}"/>
              </a:ext>
            </a:extLst>
          </p:cNvPr>
          <p:cNvSpPr/>
          <p:nvPr/>
        </p:nvSpPr>
        <p:spPr>
          <a:xfrm>
            <a:off x="5855517" y="1150379"/>
            <a:ext cx="2160000" cy="21600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FF14D6-5660-6FDD-F7C8-62813005A93E}"/>
              </a:ext>
            </a:extLst>
          </p:cNvPr>
          <p:cNvSpPr/>
          <p:nvPr/>
        </p:nvSpPr>
        <p:spPr>
          <a:xfrm>
            <a:off x="1356467" y="1103691"/>
            <a:ext cx="2160000" cy="21600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FFECAA-29FE-ADF5-590F-B9894C736548}"/>
              </a:ext>
            </a:extLst>
          </p:cNvPr>
          <p:cNvSpPr/>
          <p:nvPr/>
        </p:nvSpPr>
        <p:spPr>
          <a:xfrm>
            <a:off x="5855517" y="1150379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F376B7-91CA-F925-F67D-0499F4ED5A8E}"/>
              </a:ext>
            </a:extLst>
          </p:cNvPr>
          <p:cNvSpPr/>
          <p:nvPr/>
        </p:nvSpPr>
        <p:spPr>
          <a:xfrm>
            <a:off x="6395517" y="1150379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FFECAA-29FE-ADF5-590F-B9894C736548}"/>
              </a:ext>
            </a:extLst>
          </p:cNvPr>
          <p:cNvSpPr/>
          <p:nvPr/>
        </p:nvSpPr>
        <p:spPr>
          <a:xfrm>
            <a:off x="6935517" y="1148807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FFECAA-29FE-ADF5-590F-B9894C736548}"/>
              </a:ext>
            </a:extLst>
          </p:cNvPr>
          <p:cNvSpPr/>
          <p:nvPr/>
        </p:nvSpPr>
        <p:spPr>
          <a:xfrm>
            <a:off x="7475517" y="1148807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B322E0-972F-FCD8-B93A-7190FE5AAECD}"/>
              </a:ext>
            </a:extLst>
          </p:cNvPr>
          <p:cNvSpPr/>
          <p:nvPr/>
        </p:nvSpPr>
        <p:spPr>
          <a:xfrm>
            <a:off x="5855517" y="1691345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5B495D-F81C-F10A-62D7-D93F78E0CC2D}"/>
              </a:ext>
            </a:extLst>
          </p:cNvPr>
          <p:cNvSpPr/>
          <p:nvPr/>
        </p:nvSpPr>
        <p:spPr>
          <a:xfrm>
            <a:off x="6395517" y="1691345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A4AEF2-A777-B7B0-6FEB-EE3514C2575A}"/>
              </a:ext>
            </a:extLst>
          </p:cNvPr>
          <p:cNvSpPr/>
          <p:nvPr/>
        </p:nvSpPr>
        <p:spPr>
          <a:xfrm>
            <a:off x="6935517" y="1689773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AFA519-7C92-2E8E-A50F-709D8DEDFA69}"/>
              </a:ext>
            </a:extLst>
          </p:cNvPr>
          <p:cNvSpPr/>
          <p:nvPr/>
        </p:nvSpPr>
        <p:spPr>
          <a:xfrm>
            <a:off x="7475517" y="1689773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FFECAA-29FE-ADF5-590F-B9894C736548}"/>
              </a:ext>
            </a:extLst>
          </p:cNvPr>
          <p:cNvSpPr/>
          <p:nvPr/>
        </p:nvSpPr>
        <p:spPr>
          <a:xfrm>
            <a:off x="5855517" y="2240108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F376B7-91CA-F925-F67D-0499F4ED5A8E}"/>
              </a:ext>
            </a:extLst>
          </p:cNvPr>
          <p:cNvSpPr/>
          <p:nvPr/>
        </p:nvSpPr>
        <p:spPr>
          <a:xfrm>
            <a:off x="6395517" y="2240108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FFECAA-29FE-ADF5-590F-B9894C736548}"/>
              </a:ext>
            </a:extLst>
          </p:cNvPr>
          <p:cNvSpPr/>
          <p:nvPr/>
        </p:nvSpPr>
        <p:spPr>
          <a:xfrm>
            <a:off x="6935517" y="2238536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3FFECAA-29FE-ADF5-590F-B9894C736548}"/>
              </a:ext>
            </a:extLst>
          </p:cNvPr>
          <p:cNvSpPr/>
          <p:nvPr/>
        </p:nvSpPr>
        <p:spPr>
          <a:xfrm>
            <a:off x="7475517" y="2238536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FFECAA-29FE-ADF5-590F-B9894C736548}"/>
              </a:ext>
            </a:extLst>
          </p:cNvPr>
          <p:cNvSpPr/>
          <p:nvPr/>
        </p:nvSpPr>
        <p:spPr>
          <a:xfrm>
            <a:off x="5855517" y="2782518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F376B7-91CA-F925-F67D-0499F4ED5A8E}"/>
              </a:ext>
            </a:extLst>
          </p:cNvPr>
          <p:cNvSpPr/>
          <p:nvPr/>
        </p:nvSpPr>
        <p:spPr>
          <a:xfrm>
            <a:off x="6395517" y="2782518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FFECAA-29FE-ADF5-590F-B9894C736548}"/>
              </a:ext>
            </a:extLst>
          </p:cNvPr>
          <p:cNvSpPr/>
          <p:nvPr/>
        </p:nvSpPr>
        <p:spPr>
          <a:xfrm>
            <a:off x="6935517" y="2780946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FFECAA-29FE-ADF5-590F-B9894C736548}"/>
              </a:ext>
            </a:extLst>
          </p:cNvPr>
          <p:cNvSpPr/>
          <p:nvPr/>
        </p:nvSpPr>
        <p:spPr>
          <a:xfrm>
            <a:off x="7475517" y="2780946"/>
            <a:ext cx="540000" cy="540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9C32E537-EA4D-BF6B-7EEB-A308F4B44ED3}"/>
              </a:ext>
            </a:extLst>
          </p:cNvPr>
          <p:cNvSpPr/>
          <p:nvPr/>
        </p:nvSpPr>
        <p:spPr>
          <a:xfrm>
            <a:off x="3961158" y="1838379"/>
            <a:ext cx="1442906" cy="755009"/>
          </a:xfrm>
          <a:prstGeom prst="right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BC16003-FA23-9216-9636-0AE008B5B989}"/>
              </a:ext>
            </a:extLst>
          </p:cNvPr>
          <p:cNvSpPr txBox="1"/>
          <p:nvPr/>
        </p:nvSpPr>
        <p:spPr>
          <a:xfrm>
            <a:off x="5982904" y="813307"/>
            <a:ext cx="285226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KC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28C638D-3FFC-5927-58BC-31FE5B0E40C0}"/>
              </a:ext>
            </a:extLst>
          </p:cNvPr>
          <p:cNvSpPr txBox="1"/>
          <p:nvPr/>
        </p:nvSpPr>
        <p:spPr>
          <a:xfrm>
            <a:off x="5487177" y="1296756"/>
            <a:ext cx="331494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MC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文本框 22">
            <a:extLst>
              <a:ext uri="{FF2B5EF4-FFF2-40B4-BE49-F238E27FC236}">
                <a16:creationId xmlns:a16="http://schemas.microsoft.com/office/drawing/2014/main" id="{CBC16003-FA23-9216-9636-0AE008B5B989}"/>
              </a:ext>
            </a:extLst>
          </p:cNvPr>
          <p:cNvSpPr txBox="1"/>
          <p:nvPr/>
        </p:nvSpPr>
        <p:spPr>
          <a:xfrm>
            <a:off x="2345638" y="1103691"/>
            <a:ext cx="285226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文本框 22">
            <a:extLst>
              <a:ext uri="{FF2B5EF4-FFF2-40B4-BE49-F238E27FC236}">
                <a16:creationId xmlns:a16="http://schemas.microsoft.com/office/drawing/2014/main" id="{CBC16003-FA23-9216-9636-0AE008B5B989}"/>
              </a:ext>
            </a:extLst>
          </p:cNvPr>
          <p:cNvSpPr txBox="1"/>
          <p:nvPr/>
        </p:nvSpPr>
        <p:spPr>
          <a:xfrm>
            <a:off x="1045154" y="1967059"/>
            <a:ext cx="285226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4798716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5 –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性能对比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5923A9-42B7-E6B8-4529-937010BA8958}"/>
              </a:ext>
            </a:extLst>
          </p:cNvPr>
          <p:cNvSpPr txBox="1"/>
          <p:nvPr/>
        </p:nvSpPr>
        <p:spPr>
          <a:xfrm>
            <a:off x="7158053" y="1523571"/>
            <a:ext cx="3471389" cy="830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" altLang="zh-CN" b="0" i="0" dirty="0">
                <a:solidFill>
                  <a:srgbClr val="4A4A4A"/>
                </a:solidFill>
                <a:effectLst/>
                <a:latin typeface="Source Han Serif"/>
              </a:rPr>
              <a:t>A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每次访问</a:t>
            </a:r>
            <a:r>
              <a:rPr lang="en" altLang="zh-CN" b="0" i="0" dirty="0" err="1">
                <a:solidFill>
                  <a:srgbClr val="4A4A4A"/>
                </a:solidFill>
                <a:effectLst/>
                <a:latin typeface="Source Han Serif"/>
              </a:rPr>
              <a:t>MCxKC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的块，</a:t>
            </a:r>
            <a:r>
              <a:rPr lang="en" altLang="zh-CN" b="0" i="0" dirty="0">
                <a:solidFill>
                  <a:srgbClr val="4A4A4A"/>
                </a:solidFill>
                <a:effectLst/>
                <a:latin typeface="Source Han Serif"/>
              </a:rPr>
              <a:t>B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每次访问</a:t>
            </a:r>
            <a:r>
              <a:rPr lang="en" altLang="zh-CN" b="0" i="0" dirty="0">
                <a:solidFill>
                  <a:srgbClr val="4A4A4A"/>
                </a:solidFill>
                <a:effectLst/>
                <a:latin typeface="Source Han Serif"/>
              </a:rPr>
              <a:t>KC x </a:t>
            </a:r>
            <a:r>
              <a:rPr lang="en" altLang="zh-CN" b="0" i="0" dirty="0" err="1">
                <a:solidFill>
                  <a:srgbClr val="4A4A4A"/>
                </a:solidFill>
                <a:effectLst/>
                <a:latin typeface="Source Han Serif"/>
              </a:rPr>
              <a:t>ldb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的块，让高密度计算中的访存范围集中。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BAEB76E2-07A4-A9E0-7242-1690FE52C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81" y="1523571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1579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89" y="7546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6 – Packing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E20AAA2-28AF-C185-1235-6D1BE348F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56" y="3507510"/>
            <a:ext cx="3870665" cy="291318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FC4FD7A-5DDF-7493-4605-D136C526B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6845" y="3525126"/>
            <a:ext cx="3870666" cy="2877954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18957F77-F34F-B0EB-FE13-E76305BF3F89}"/>
              </a:ext>
            </a:extLst>
          </p:cNvPr>
          <p:cNvGrpSpPr/>
          <p:nvPr/>
        </p:nvGrpSpPr>
        <p:grpSpPr>
          <a:xfrm>
            <a:off x="4234776" y="1100273"/>
            <a:ext cx="5317098" cy="2183716"/>
            <a:chOff x="1557803" y="1168738"/>
            <a:chExt cx="5317098" cy="218371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9B3B74D-7BC3-72A3-2452-1E40223660ED}"/>
                </a:ext>
              </a:extLst>
            </p:cNvPr>
            <p:cNvSpPr/>
            <p:nvPr/>
          </p:nvSpPr>
          <p:spPr>
            <a:xfrm>
              <a:off x="1557803" y="1172874"/>
              <a:ext cx="2160000" cy="216000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FB84526-0BBA-741C-C515-0E5361BA7892}"/>
                </a:ext>
              </a:extLst>
            </p:cNvPr>
            <p:cNvSpPr/>
            <p:nvPr/>
          </p:nvSpPr>
          <p:spPr>
            <a:xfrm>
              <a:off x="4714901" y="1183531"/>
              <a:ext cx="2160000" cy="21600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4D9320E-1BE2-C2CF-6F13-3F72E4C2F665}"/>
                </a:ext>
              </a:extLst>
            </p:cNvPr>
            <p:cNvSpPr/>
            <p:nvPr/>
          </p:nvSpPr>
          <p:spPr>
            <a:xfrm>
              <a:off x="1557803" y="1168738"/>
              <a:ext cx="2160000" cy="54000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C6C0256-EDA5-AA18-C03A-D3B787CCB04D}"/>
                </a:ext>
              </a:extLst>
            </p:cNvPr>
            <p:cNvSpPr/>
            <p:nvPr/>
          </p:nvSpPr>
          <p:spPr>
            <a:xfrm>
              <a:off x="4713493" y="1192454"/>
              <a:ext cx="540000" cy="2160000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F0D27DD-ED65-DB83-6216-13F5C4164C81}"/>
                </a:ext>
              </a:extLst>
            </p:cNvPr>
            <p:cNvSpPr txBox="1"/>
            <p:nvPr/>
          </p:nvSpPr>
          <p:spPr>
            <a:xfrm>
              <a:off x="2592620" y="2110238"/>
              <a:ext cx="813732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A`</a:t>
              </a: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33F6C8-075B-0E92-460C-3840C5FAC856}"/>
                </a:ext>
              </a:extLst>
            </p:cNvPr>
            <p:cNvSpPr txBox="1"/>
            <p:nvPr/>
          </p:nvSpPr>
          <p:spPr>
            <a:xfrm>
              <a:off x="5767324" y="2112608"/>
              <a:ext cx="813732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B`</a:t>
              </a: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513EE09-C8A7-406F-2476-447F2F1EF9A5}"/>
                </a:ext>
              </a:extLst>
            </p:cNvPr>
            <p:cNvSpPr txBox="1"/>
            <p:nvPr/>
          </p:nvSpPr>
          <p:spPr>
            <a:xfrm>
              <a:off x="2288701" y="1262419"/>
              <a:ext cx="607838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PackA</a:t>
              </a: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CAEFD8E-7421-6F25-A7E2-048803BFF2CE}"/>
                </a:ext>
              </a:extLst>
            </p:cNvPr>
            <p:cNvSpPr txBox="1"/>
            <p:nvPr/>
          </p:nvSpPr>
          <p:spPr>
            <a:xfrm>
              <a:off x="4714841" y="2069245"/>
              <a:ext cx="607838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PackB</a:t>
              </a: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AB017B4C-1B9B-F66E-8B9A-41B4ED745443}"/>
                </a:ext>
              </a:extLst>
            </p:cNvPr>
            <p:cNvCxnSpPr/>
            <p:nvPr/>
          </p:nvCxnSpPr>
          <p:spPr>
            <a:xfrm>
              <a:off x="1656177" y="1226787"/>
              <a:ext cx="0" cy="434972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18C53469-33DC-213C-510D-635FD2A173F5}"/>
                </a:ext>
              </a:extLst>
            </p:cNvPr>
            <p:cNvCxnSpPr/>
            <p:nvPr/>
          </p:nvCxnSpPr>
          <p:spPr>
            <a:xfrm>
              <a:off x="1926022" y="1226787"/>
              <a:ext cx="0" cy="434972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AB017B4C-1B9B-F66E-8B9A-41B4ED745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3370" y="1234484"/>
              <a:ext cx="271244" cy="41717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55057790-51A5-1C82-0E65-D95B79A70A25}"/>
              </a:ext>
            </a:extLst>
          </p:cNvPr>
          <p:cNvSpPr/>
          <p:nvPr/>
        </p:nvSpPr>
        <p:spPr>
          <a:xfrm>
            <a:off x="985902" y="1100272"/>
            <a:ext cx="2160000" cy="216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3836F8-F8DB-92ED-60FE-6B5A4CADFE56}"/>
              </a:ext>
            </a:extLst>
          </p:cNvPr>
          <p:cNvSpPr/>
          <p:nvPr/>
        </p:nvSpPr>
        <p:spPr>
          <a:xfrm>
            <a:off x="984494" y="1109951"/>
            <a:ext cx="540000" cy="53157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2F982C-9851-73CA-7770-FAB2AC5EDEC3}"/>
              </a:ext>
            </a:extLst>
          </p:cNvPr>
          <p:cNvSpPr txBox="1"/>
          <p:nvPr/>
        </p:nvSpPr>
        <p:spPr>
          <a:xfrm flipH="1">
            <a:off x="1146069" y="1229586"/>
            <a:ext cx="274896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A`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D6E5A9-A871-8EAD-C3E6-D99170EF4B27}"/>
              </a:ext>
            </a:extLst>
          </p:cNvPr>
          <p:cNvSpPr txBox="1"/>
          <p:nvPr/>
        </p:nvSpPr>
        <p:spPr>
          <a:xfrm>
            <a:off x="1994359" y="2017588"/>
            <a:ext cx="143085" cy="2769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04DFC4BD-4434-A0C7-FA9B-8675BAD0FA7A}"/>
              </a:ext>
            </a:extLst>
          </p:cNvPr>
          <p:cNvCxnSpPr/>
          <p:nvPr/>
        </p:nvCxnSpPr>
        <p:spPr>
          <a:xfrm>
            <a:off x="1420965" y="1506585"/>
            <a:ext cx="3713097" cy="64950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B924DA1-A8B5-7FAE-1BB3-19B44F077D48}"/>
              </a:ext>
            </a:extLst>
          </p:cNvPr>
          <p:cNvGrpSpPr/>
          <p:nvPr/>
        </p:nvGrpSpPr>
        <p:grpSpPr>
          <a:xfrm>
            <a:off x="7475006" y="1263252"/>
            <a:ext cx="423895" cy="269347"/>
            <a:chOff x="7805935" y="1237238"/>
            <a:chExt cx="423895" cy="269347"/>
          </a:xfrm>
        </p:grpSpPr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3C0E704D-D96F-6F98-B15B-843F508CFCFB}"/>
                </a:ext>
              </a:extLst>
            </p:cNvPr>
            <p:cNvCxnSpPr/>
            <p:nvPr/>
          </p:nvCxnSpPr>
          <p:spPr>
            <a:xfrm>
              <a:off x="7805935" y="1237238"/>
              <a:ext cx="394283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34" name="直线箭头连接符 33">
              <a:extLst>
                <a:ext uri="{FF2B5EF4-FFF2-40B4-BE49-F238E27FC236}">
                  <a16:creationId xmlns:a16="http://schemas.microsoft.com/office/drawing/2014/main" id="{5F8AC5D7-86E1-D722-CD48-7FCC15E6B033}"/>
                </a:ext>
              </a:extLst>
            </p:cNvPr>
            <p:cNvCxnSpPr/>
            <p:nvPr/>
          </p:nvCxnSpPr>
          <p:spPr>
            <a:xfrm>
              <a:off x="7835547" y="1495262"/>
              <a:ext cx="394283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35" name="直线箭头连接符 34">
              <a:extLst>
                <a:ext uri="{FF2B5EF4-FFF2-40B4-BE49-F238E27FC236}">
                  <a16:creationId xmlns:a16="http://schemas.microsoft.com/office/drawing/2014/main" id="{19EB2A75-BC08-9AE0-6A10-A8270A255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5547" y="1237238"/>
              <a:ext cx="317872" cy="269347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9543863F-4BF0-CEC1-7EF0-D800F1E64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824020"/>
            <a:ext cx="3721904" cy="2355172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5E7BB0EF-77CA-7DFA-0D54-75DD404C758A}"/>
              </a:ext>
            </a:extLst>
          </p:cNvPr>
          <p:cNvSpPr/>
          <p:nvPr/>
        </p:nvSpPr>
        <p:spPr>
          <a:xfrm>
            <a:off x="342008" y="4872134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D0646F-AF88-B222-D609-ABDC239CF872}"/>
              </a:ext>
            </a:extLst>
          </p:cNvPr>
          <p:cNvSpPr/>
          <p:nvPr/>
        </p:nvSpPr>
        <p:spPr>
          <a:xfrm>
            <a:off x="552602" y="5525663"/>
            <a:ext cx="2628000" cy="36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D0646F-AF88-B222-D609-ABDC239CF872}"/>
              </a:ext>
            </a:extLst>
          </p:cNvPr>
          <p:cNvSpPr/>
          <p:nvPr/>
        </p:nvSpPr>
        <p:spPr>
          <a:xfrm>
            <a:off x="4101107" y="4970415"/>
            <a:ext cx="1080000" cy="756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FA2579C9-9C72-481A-4390-0A30C39D0F07}"/>
              </a:ext>
            </a:extLst>
          </p:cNvPr>
          <p:cNvCxnSpPr/>
          <p:nvPr/>
        </p:nvCxnSpPr>
        <p:spPr>
          <a:xfrm>
            <a:off x="3965433" y="5130929"/>
            <a:ext cx="0" cy="43497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9D282E5-250C-D9BD-8143-8363805398F0}"/>
              </a:ext>
            </a:extLst>
          </p:cNvPr>
          <p:cNvSpPr/>
          <p:nvPr/>
        </p:nvSpPr>
        <p:spPr>
          <a:xfrm>
            <a:off x="8178029" y="4129779"/>
            <a:ext cx="3348000" cy="43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94B2E5F9-5210-D589-CEC2-6E6A4DB53852}"/>
              </a:ext>
            </a:extLst>
          </p:cNvPr>
          <p:cNvCxnSpPr/>
          <p:nvPr/>
        </p:nvCxnSpPr>
        <p:spPr>
          <a:xfrm>
            <a:off x="9551874" y="3957517"/>
            <a:ext cx="394283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0081181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6 –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性能对比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 descr="图表, 折线图&#10;&#10;描述已自动生成">
            <a:extLst>
              <a:ext uri="{FF2B5EF4-FFF2-40B4-BE49-F238E27FC236}">
                <a16:creationId xmlns:a16="http://schemas.microsoft.com/office/drawing/2014/main" id="{F37FF639-F3D3-1FAB-53A5-812254D240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81" y="1426509"/>
            <a:ext cx="5842000" cy="43815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DDAD969-7123-8067-E4E0-E1C9CC5FB127}"/>
              </a:ext>
            </a:extLst>
          </p:cNvPr>
          <p:cNvSpPr txBox="1"/>
          <p:nvPr/>
        </p:nvSpPr>
        <p:spPr>
          <a:xfrm>
            <a:off x="7158053" y="1523571"/>
            <a:ext cx="3471389" cy="38779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l"/>
            <a:r>
              <a:rPr lang="en-US" altLang="zh-CN" dirty="0">
                <a:solidFill>
                  <a:srgbClr val="4A4A4A"/>
                </a:solidFill>
                <a:latin typeface="Source Han Serif"/>
              </a:rPr>
              <a:t>    </a:t>
            </a:r>
            <a:r>
              <a:rPr lang="en-US" altLang="zh-CN" b="0" i="0" dirty="0">
                <a:solidFill>
                  <a:srgbClr val="4A4A4A"/>
                </a:solidFill>
                <a:effectLst/>
                <a:latin typeface="Source Han Serif"/>
              </a:rPr>
              <a:t>1. 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每次对</a:t>
            </a:r>
            <a:r>
              <a:rPr lang="en" altLang="zh-CN" b="0" i="0" dirty="0">
                <a:solidFill>
                  <a:srgbClr val="4A4A4A"/>
                </a:solidFill>
                <a:effectLst/>
                <a:latin typeface="Source Han Serif"/>
              </a:rPr>
              <a:t>A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进行</a:t>
            </a:r>
            <a:r>
              <a:rPr lang="en-US" altLang="zh-CN" b="0" i="0" dirty="0">
                <a:solidFill>
                  <a:srgbClr val="4A4A4A"/>
                </a:solidFill>
                <a:effectLst/>
                <a:latin typeface="Source Han Serif"/>
              </a:rPr>
              <a:t>4</a:t>
            </a:r>
            <a:r>
              <a:rPr lang="en" altLang="zh-CN" b="0" i="0" dirty="0">
                <a:solidFill>
                  <a:srgbClr val="4A4A4A"/>
                </a:solidFill>
                <a:effectLst/>
                <a:latin typeface="Source Han Serif"/>
              </a:rPr>
              <a:t>x1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的访存时，是对</a:t>
            </a:r>
            <a:r>
              <a:rPr lang="en-US" altLang="zh-CN" b="0" i="0" dirty="0">
                <a:solidFill>
                  <a:srgbClr val="4A4A4A"/>
                </a:solidFill>
                <a:effectLst/>
                <a:latin typeface="Source Han Serif"/>
              </a:rPr>
              <a:t>4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行同一列元素进行的访存，但是每次循环就会跳到下一列，由于是列主序的矩阵，循环间访存不是连续的，最好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Source Han Serif"/>
              </a:rPr>
              <a:t>将所有循环会访问的元素排到一起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，可以减少跨区域访存的次数，增加数据在一条</a:t>
            </a:r>
            <a:r>
              <a:rPr lang="en" altLang="zh-CN" b="0" i="0" dirty="0">
                <a:solidFill>
                  <a:srgbClr val="4A4A4A"/>
                </a:solidFill>
                <a:effectLst/>
                <a:latin typeface="Source Han Serif"/>
              </a:rPr>
              <a:t>Cache Line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中的概率。因此对</a:t>
            </a:r>
            <a:r>
              <a:rPr lang="en" altLang="zh-CN" b="0" i="0" dirty="0">
                <a:solidFill>
                  <a:srgbClr val="4A4A4A"/>
                </a:solidFill>
                <a:effectLst/>
                <a:latin typeface="Source Han Serif"/>
              </a:rPr>
              <a:t>A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进行了</a:t>
            </a:r>
            <a:r>
              <a:rPr lang="en-US" altLang="zh-CN" b="0" i="0" dirty="0">
                <a:solidFill>
                  <a:srgbClr val="4A4A4A"/>
                </a:solidFill>
                <a:effectLst/>
                <a:latin typeface="Source Han Serif"/>
              </a:rPr>
              <a:t>4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行元素的内存重排。</a:t>
            </a:r>
          </a:p>
          <a:p>
            <a:pPr algn="l"/>
            <a:r>
              <a:rPr lang="en-US" altLang="zh-CN" b="0" i="0" dirty="0">
                <a:solidFill>
                  <a:srgbClr val="4A4A4A"/>
                </a:solidFill>
                <a:effectLst/>
                <a:latin typeface="Source Han Serif"/>
              </a:rPr>
              <a:t>     2. 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每次对</a:t>
            </a:r>
            <a:r>
              <a:rPr lang="en" altLang="zh-CN" b="0" i="0" dirty="0">
                <a:solidFill>
                  <a:srgbClr val="4A4A4A"/>
                </a:solidFill>
                <a:effectLst/>
                <a:latin typeface="Source Han Serif"/>
              </a:rPr>
              <a:t>B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是进行</a:t>
            </a:r>
            <a:r>
              <a:rPr lang="en-US" altLang="zh-CN" b="0" i="0" dirty="0">
                <a:solidFill>
                  <a:srgbClr val="4A4A4A"/>
                </a:solidFill>
                <a:effectLst/>
                <a:latin typeface="Source Han Serif"/>
              </a:rPr>
              <a:t>1</a:t>
            </a:r>
            <a:r>
              <a:rPr lang="en" altLang="zh-CN" b="0" i="0" dirty="0">
                <a:solidFill>
                  <a:srgbClr val="4A4A4A"/>
                </a:solidFill>
                <a:effectLst/>
                <a:latin typeface="Source Han Serif"/>
              </a:rPr>
              <a:t>x4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的访存，每次对同一行四列的元素访问，由于列主序，一次循环内的访存是不连续的，可以将</a:t>
            </a:r>
            <a:r>
              <a:rPr lang="en-US" altLang="zh-CN" b="0" i="0" dirty="0">
                <a:solidFill>
                  <a:srgbClr val="4A4A4A"/>
                </a:solidFill>
                <a:effectLst/>
                <a:latin typeface="Source Han Serif"/>
              </a:rPr>
              <a:t>4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列的元素重排到一起。</a:t>
            </a:r>
          </a:p>
        </p:txBody>
      </p:sp>
    </p:spTree>
    <p:extLst>
      <p:ext uri="{BB962C8B-B14F-4D97-AF65-F5344CB8AC3E}">
        <p14:creationId xmlns:p14="http://schemas.microsoft.com/office/powerpoint/2010/main" val="114283059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6 –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指标对比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07F6EC-9548-5185-B93B-50620216E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35" y="4046948"/>
            <a:ext cx="5741400" cy="23497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3D0F2F-6972-C9A6-2245-D50C77C56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35" y="1279201"/>
            <a:ext cx="5741400" cy="232227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41CAB6D-5A2D-46E8-3F8D-3C12A0B822B7}"/>
              </a:ext>
            </a:extLst>
          </p:cNvPr>
          <p:cNvSpPr/>
          <p:nvPr/>
        </p:nvSpPr>
        <p:spPr>
          <a:xfrm>
            <a:off x="1244300" y="5221843"/>
            <a:ext cx="2412000" cy="288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04495F-D808-C2F1-895F-30BF3FCF6C4A}"/>
              </a:ext>
            </a:extLst>
          </p:cNvPr>
          <p:cNvSpPr/>
          <p:nvPr/>
        </p:nvSpPr>
        <p:spPr>
          <a:xfrm>
            <a:off x="1239337" y="4507581"/>
            <a:ext cx="2412000" cy="216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1CAB6D-5A2D-46E8-3F8D-3C12A0B822B7}"/>
              </a:ext>
            </a:extLst>
          </p:cNvPr>
          <p:cNvSpPr/>
          <p:nvPr/>
        </p:nvSpPr>
        <p:spPr>
          <a:xfrm>
            <a:off x="1244300" y="2411498"/>
            <a:ext cx="2412000" cy="288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1CAB6D-5A2D-46E8-3F8D-3C12A0B822B7}"/>
              </a:ext>
            </a:extLst>
          </p:cNvPr>
          <p:cNvSpPr/>
          <p:nvPr/>
        </p:nvSpPr>
        <p:spPr>
          <a:xfrm>
            <a:off x="1244300" y="1742623"/>
            <a:ext cx="2412000" cy="216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165896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7 – 4x4 op 4x4 = 4x4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256D607-A3C2-398B-E24B-A478DDA57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616" y="1064049"/>
            <a:ext cx="6019800" cy="521513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38FED9-0FE4-ACE1-A0A6-9660823366AA}"/>
              </a:ext>
            </a:extLst>
          </p:cNvPr>
          <p:cNvSpPr/>
          <p:nvPr/>
        </p:nvSpPr>
        <p:spPr>
          <a:xfrm>
            <a:off x="2914616" y="1084338"/>
            <a:ext cx="2412000" cy="18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CA595C-9FA2-0892-228B-C372F8E2640A}"/>
              </a:ext>
            </a:extLst>
          </p:cNvPr>
          <p:cNvSpPr/>
          <p:nvPr/>
        </p:nvSpPr>
        <p:spPr>
          <a:xfrm>
            <a:off x="3031157" y="5703951"/>
            <a:ext cx="2412000" cy="324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9011098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7 – 4x4 op 4x4 = 4x4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5923A9-42B7-E6B8-4529-937010BA8958}"/>
              </a:ext>
            </a:extLst>
          </p:cNvPr>
          <p:cNvSpPr txBox="1"/>
          <p:nvPr/>
        </p:nvSpPr>
        <p:spPr>
          <a:xfrm>
            <a:off x="7158053" y="1523571"/>
            <a:ext cx="3471389" cy="55399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l"/>
            <a:r>
              <a:rPr lang="en-US" altLang="zh-CN" b="0" i="0" dirty="0">
                <a:solidFill>
                  <a:srgbClr val="4A4A4A"/>
                </a:solidFill>
                <a:effectLst/>
                <a:latin typeface="Source Han Serif"/>
              </a:rPr>
              <a:t>A</a:t>
            </a:r>
            <a:r>
              <a:rPr lang="zh-CN" altLang="en-US" b="0" i="0" dirty="0">
                <a:solidFill>
                  <a:srgbClr val="4A4A4A"/>
                </a:solidFill>
                <a:effectLst/>
                <a:latin typeface="Source Han Serif"/>
              </a:rPr>
              <a:t>矩阵每次取</a:t>
            </a:r>
            <a:r>
              <a:rPr lang="en-US" altLang="zh-CN" dirty="0">
                <a:solidFill>
                  <a:srgbClr val="4A4A4A"/>
                </a:solidFill>
                <a:latin typeface="Source Han Serif"/>
              </a:rPr>
              <a:t>4</a:t>
            </a:r>
            <a:r>
              <a:rPr lang="zh-CN" altLang="en-US" dirty="0">
                <a:solidFill>
                  <a:srgbClr val="4A4A4A"/>
                </a:solidFill>
                <a:latin typeface="Source Han Serif"/>
              </a:rPr>
              <a:t>*</a:t>
            </a:r>
            <a:r>
              <a:rPr lang="en-US" altLang="zh-CN" dirty="0">
                <a:solidFill>
                  <a:srgbClr val="4A4A4A"/>
                </a:solidFill>
                <a:latin typeface="Source Han Serif"/>
              </a:rPr>
              <a:t>4</a:t>
            </a:r>
            <a:r>
              <a:rPr lang="zh-CN" altLang="en-US" dirty="0">
                <a:solidFill>
                  <a:srgbClr val="4A4A4A"/>
                </a:solidFill>
                <a:latin typeface="Source Han Serif"/>
              </a:rPr>
              <a:t>，</a:t>
            </a:r>
            <a:r>
              <a:rPr lang="en-US" altLang="zh-CN" dirty="0">
                <a:solidFill>
                  <a:srgbClr val="4A4A4A"/>
                </a:solidFill>
                <a:latin typeface="Source Han Serif"/>
              </a:rPr>
              <a:t>B</a:t>
            </a:r>
            <a:r>
              <a:rPr lang="zh-CN" altLang="en-US" dirty="0">
                <a:solidFill>
                  <a:srgbClr val="4A4A4A"/>
                </a:solidFill>
                <a:latin typeface="Source Han Serif"/>
              </a:rPr>
              <a:t>矩阵取</a:t>
            </a:r>
            <a:r>
              <a:rPr lang="en-US" altLang="zh-CN" dirty="0">
                <a:solidFill>
                  <a:srgbClr val="4A4A4A"/>
                </a:solidFill>
                <a:latin typeface="Source Han Serif"/>
              </a:rPr>
              <a:t>4</a:t>
            </a:r>
            <a:r>
              <a:rPr lang="zh-CN" altLang="en-US" dirty="0">
                <a:solidFill>
                  <a:srgbClr val="4A4A4A"/>
                </a:solidFill>
                <a:latin typeface="Source Han Serif"/>
              </a:rPr>
              <a:t>*</a:t>
            </a:r>
            <a:r>
              <a:rPr lang="en-US" altLang="zh-CN" dirty="0">
                <a:solidFill>
                  <a:srgbClr val="4A4A4A"/>
                </a:solidFill>
                <a:latin typeface="Source Han Serif"/>
              </a:rPr>
              <a:t>4</a:t>
            </a:r>
            <a:r>
              <a:rPr lang="zh-CN" altLang="en-US" dirty="0">
                <a:solidFill>
                  <a:srgbClr val="4A4A4A"/>
                </a:solidFill>
                <a:latin typeface="Source Han Serif"/>
              </a:rPr>
              <a:t>。性能几乎不变。</a:t>
            </a:r>
            <a:r>
              <a:rPr lang="en-US" altLang="zh-CN" b="0" i="0" dirty="0">
                <a:solidFill>
                  <a:srgbClr val="4A4A4A"/>
                </a:solidFill>
                <a:effectLst/>
                <a:latin typeface="Source Han Serif"/>
              </a:rPr>
              <a:t> </a:t>
            </a:r>
            <a:endParaRPr lang="zh-CN" altLang="en-US" b="0" i="0" dirty="0">
              <a:solidFill>
                <a:srgbClr val="4A4A4A"/>
              </a:solidFill>
              <a:effectLst/>
              <a:latin typeface="Source Han Serif"/>
            </a:endParaRPr>
          </a:p>
        </p:txBody>
      </p:sp>
      <p:pic>
        <p:nvPicPr>
          <p:cNvPr id="5" name="图片 4" descr="图表, 折线图&#10;&#10;描述已自动生成">
            <a:extLst>
              <a:ext uri="{FF2B5EF4-FFF2-40B4-BE49-F238E27FC236}">
                <a16:creationId xmlns:a16="http://schemas.microsoft.com/office/drawing/2014/main" id="{7910F91A-2966-207B-F8F5-E8DD84259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81" y="1349086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3246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8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指令并行度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6CAD65-40A0-C3F2-19E9-12444E33F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25" y="1224780"/>
            <a:ext cx="4612422" cy="52225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5D5524-B7B7-DA06-3D3C-96762F69E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774" y="1213006"/>
            <a:ext cx="4450773" cy="523436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138FED9-0FE4-ACE1-A0A6-9660823366AA}"/>
              </a:ext>
            </a:extLst>
          </p:cNvPr>
          <p:cNvSpPr/>
          <p:nvPr/>
        </p:nvSpPr>
        <p:spPr>
          <a:xfrm>
            <a:off x="5991774" y="1295047"/>
            <a:ext cx="720000" cy="79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B7E2B4-AD19-158D-BE0E-C965864FA8A3}"/>
              </a:ext>
            </a:extLst>
          </p:cNvPr>
          <p:cNvSpPr/>
          <p:nvPr/>
        </p:nvSpPr>
        <p:spPr>
          <a:xfrm>
            <a:off x="684668" y="1295047"/>
            <a:ext cx="720000" cy="79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38FED9-0FE4-ACE1-A0A6-9660823366AA}"/>
              </a:ext>
            </a:extLst>
          </p:cNvPr>
          <p:cNvSpPr/>
          <p:nvPr/>
        </p:nvSpPr>
        <p:spPr>
          <a:xfrm>
            <a:off x="5991774" y="2819350"/>
            <a:ext cx="720000" cy="79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38FED9-0FE4-ACE1-A0A6-9660823366AA}"/>
              </a:ext>
            </a:extLst>
          </p:cNvPr>
          <p:cNvSpPr/>
          <p:nvPr/>
        </p:nvSpPr>
        <p:spPr>
          <a:xfrm>
            <a:off x="5991774" y="4343653"/>
            <a:ext cx="720000" cy="79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38FED9-0FE4-ACE1-A0A6-9660823366AA}"/>
              </a:ext>
            </a:extLst>
          </p:cNvPr>
          <p:cNvSpPr/>
          <p:nvPr/>
        </p:nvSpPr>
        <p:spPr>
          <a:xfrm>
            <a:off x="6013478" y="5618423"/>
            <a:ext cx="720000" cy="792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5036359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8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81203A9-6621-3339-47B7-EFA1F0123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81" y="1084338"/>
            <a:ext cx="6662674" cy="270084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D0EA4C4-A85D-170C-8E37-D090C3392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81" y="3928650"/>
            <a:ext cx="6662674" cy="278588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138FED9-0FE4-ACE1-A0A6-9660823366AA}"/>
              </a:ext>
            </a:extLst>
          </p:cNvPr>
          <p:cNvSpPr/>
          <p:nvPr/>
        </p:nvSpPr>
        <p:spPr>
          <a:xfrm>
            <a:off x="4271436" y="1433571"/>
            <a:ext cx="2412000" cy="18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38FED9-0FE4-ACE1-A0A6-9660823366AA}"/>
              </a:ext>
            </a:extLst>
          </p:cNvPr>
          <p:cNvSpPr/>
          <p:nvPr/>
        </p:nvSpPr>
        <p:spPr>
          <a:xfrm>
            <a:off x="4271436" y="4325117"/>
            <a:ext cx="2412000" cy="180000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9012562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8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图表, 折线图&#10;&#10;描述已自动生成">
            <a:extLst>
              <a:ext uri="{FF2B5EF4-FFF2-40B4-BE49-F238E27FC236}">
                <a16:creationId xmlns:a16="http://schemas.microsoft.com/office/drawing/2014/main" id="{F83C0B44-B3DF-3AB0-918D-E4AFCCCF7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81" y="1523571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1091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sp>
        <p:nvSpPr>
          <p:cNvPr id="166" name="矩形"/>
          <p:cNvSpPr/>
          <p:nvPr/>
        </p:nvSpPr>
        <p:spPr>
          <a:xfrm>
            <a:off x="11210274" y="-20289"/>
            <a:ext cx="1018572" cy="3087721"/>
          </a:xfrm>
          <a:prstGeom prst="rect">
            <a:avLst/>
          </a:prstGeom>
          <a:solidFill>
            <a:srgbClr val="2151D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2151D1"/>
                </a:solidFill>
              </a:defRPr>
            </a:pPr>
            <a:endParaRPr/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8283274" cy="50148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8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MKL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A052CBA5-F02A-1CE9-01A5-160CA7F6A7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426" y="1064049"/>
            <a:ext cx="6819148" cy="511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7630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9" name="文本框 6"/>
          <p:cNvSpPr txBox="1"/>
          <p:nvPr/>
        </p:nvSpPr>
        <p:spPr>
          <a:xfrm>
            <a:off x="10810875" y="245745"/>
            <a:ext cx="1252551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BFBFBF"/>
                </a:solidFill>
                <a:latin typeface="DIN-Medium"/>
                <a:ea typeface="DIN-Medium"/>
                <a:cs typeface="DIN-Medium"/>
                <a:sym typeface="DIN-Medium"/>
              </a:defRPr>
            </a:lvl1pPr>
          </a:lstStyle>
          <a:p>
            <a:r>
              <a:t>yuansuan.com</a:t>
            </a:r>
          </a:p>
        </p:txBody>
      </p:sp>
      <p:sp>
        <p:nvSpPr>
          <p:cNvPr id="360" name="文本框 8"/>
          <p:cNvSpPr txBox="1"/>
          <p:nvPr/>
        </p:nvSpPr>
        <p:spPr>
          <a:xfrm>
            <a:off x="9462728" y="62276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A7A7A7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</a:p>
        </p:txBody>
      </p:sp>
      <p:pic>
        <p:nvPicPr>
          <p:cNvPr id="361" name="图片 12" descr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3515" y="578865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2" name="文本框 14"/>
          <p:cNvSpPr txBox="1"/>
          <p:nvPr/>
        </p:nvSpPr>
        <p:spPr>
          <a:xfrm>
            <a:off x="649604" y="2481262"/>
            <a:ext cx="6680753" cy="980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6000" spc="560">
                <a:solidFill>
                  <a:srgbClr val="FFFFFF"/>
                </a:solidFill>
                <a:latin typeface="DIN Alternate Bold" panose="020B0500000000000000"/>
                <a:ea typeface="DIN Alternate Bold" panose="020B0500000000000000"/>
                <a:cs typeface="DIN Alternate Bold" panose="020B0500000000000000"/>
                <a:sym typeface="DIN Alternate Bold" panose="020B0500000000000000"/>
              </a:defRPr>
            </a:lvl1pPr>
          </a:lstStyle>
          <a:p>
            <a:r>
              <a:t>THANKS</a:t>
            </a:r>
          </a:p>
        </p:txBody>
      </p:sp>
      <p:pic>
        <p:nvPicPr>
          <p:cNvPr id="363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" y="367972"/>
            <a:ext cx="1198881" cy="478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5456181"/>
            <a:ext cx="1252551" cy="94118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dlZWUyOGQzM2RiNDY5ODA3MmYyMGM2NmJiOWJjM2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SimSun"/>
        <a:ea typeface="SimSun"/>
        <a:cs typeface="SimSun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SimSun"/>
        <a:ea typeface="SimSun"/>
        <a:cs typeface="SimSun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941</Words>
  <Application>Microsoft Macintosh PowerPoint</Application>
  <PresentationFormat>宽屏</PresentationFormat>
  <Paragraphs>96</Paragraphs>
  <Slides>31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SimSun</vt:lpstr>
      <vt:lpstr>Source Han Serif</vt:lpstr>
      <vt:lpstr>Arial</vt:lpstr>
      <vt:lpstr>Calibri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Diac Liu</cp:lastModifiedBy>
  <cp:revision>109</cp:revision>
  <dcterms:created xsi:type="dcterms:W3CDTF">2024-08-30T02:57:29Z</dcterms:created>
  <dcterms:modified xsi:type="dcterms:W3CDTF">2024-09-06T07:09:13Z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F5B379E157A649E3861CD2A431B64D4E_12</vt:lpwstr>
  </property>
  <property fmtid="{D5CDD505-2E9C-101B-9397-08002B2CF9AE}" pid="3" name="KSOProductBuildVer">
    <vt:lpwstr>2052-6.1.0.8274</vt:lpwstr>
  </property>
</Properties>
</file>