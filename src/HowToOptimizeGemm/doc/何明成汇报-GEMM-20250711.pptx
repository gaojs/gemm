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handoutMasterIdLst>
    <p:handoutMasterId r:id="rId23"/>
  </p:handoutMasterIdLst>
  <p:sldIdLst>
    <p:sldId id="492" r:id="rId3"/>
    <p:sldId id="493" r:id="rId4"/>
    <p:sldId id="511" r:id="rId6"/>
    <p:sldId id="494" r:id="rId7"/>
    <p:sldId id="495" r:id="rId8"/>
    <p:sldId id="496" r:id="rId9"/>
    <p:sldId id="497" r:id="rId10"/>
    <p:sldId id="498" r:id="rId11"/>
    <p:sldId id="499" r:id="rId12"/>
    <p:sldId id="500" r:id="rId13"/>
    <p:sldId id="501" r:id="rId14"/>
    <p:sldId id="502" r:id="rId15"/>
    <p:sldId id="503" r:id="rId16"/>
    <p:sldId id="504" r:id="rId17"/>
    <p:sldId id="505" r:id="rId18"/>
    <p:sldId id="506" r:id="rId19"/>
    <p:sldId id="507" r:id="rId20"/>
    <p:sldId id="508" r:id="rId21"/>
    <p:sldId id="510" r:id="rId22"/>
  </p:sldIdLst>
  <p:sldSz cx="12192000" cy="6858000"/>
  <p:notesSz cx="6858000" cy="9144000"/>
  <p:embeddedFontLst>
    <p:embeddedFont>
      <p:font typeface="Calibri" panose="020F0502020204030204"/>
      <p:regular r:id="rId27"/>
    </p:embeddedFont>
    <p:embeddedFont>
      <p:font typeface="Helvetica Neue" panose="020B0604020202020204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>
      <p:cViewPr varScale="1">
        <p:scale>
          <a:sx n="124" d="100"/>
          <a:sy n="1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1524000" y="1322961"/>
            <a:ext cx="9144000" cy="218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Helvetica Neue" panose="020B0604020202020204"/>
              <a:buNone/>
              <a:defRPr sz="24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Helvetica Neue" panose="020B0604020202020204"/>
              <a:buNone/>
              <a:defRPr sz="24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Helvetica Neue" panose="020B0604020202020204"/>
              <a:buNone/>
              <a:defRPr sz="24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Helvetica Neue" panose="020B0604020202020204"/>
              <a:buNone/>
              <a:defRPr sz="24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Helvetica Neue" panose="020B0604020202020204"/>
              <a:buNone/>
              <a:defRPr sz="2400"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标题和内容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>
  <p:cSld name="节标题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831849" y="469126"/>
            <a:ext cx="10307927" cy="4093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831850" y="4610027"/>
            <a:ext cx="10307926" cy="647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 panose="020F0502020204030204"/>
              <a:buNone/>
              <a:defRPr sz="2400">
                <a:solidFill>
                  <a:srgbClr val="000000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 panose="020F0502020204030204"/>
              <a:buNone/>
              <a:defRPr sz="2400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 panose="020F0502020204030204"/>
              <a:buNone/>
              <a:defRPr sz="2400">
                <a:solidFill>
                  <a:srgbClr val="000000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 panose="020F0502020204030204"/>
              <a:buNone/>
              <a:defRPr sz="2400">
                <a:solidFill>
                  <a:srgbClr val="000000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 panose="020F0502020204030204"/>
              <a:buNone/>
              <a:defRPr sz="24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>
  <p:cSld name="两栏内容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>
  <p:cSld name="比较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6"/>
          <p:cNvSpPr txBox="1">
            <a:spLocks noGrp="1"/>
          </p:cNvSpPr>
          <p:nvPr>
            <p:ph type="body" idx="1"/>
          </p:nvPr>
        </p:nvSpPr>
        <p:spPr>
          <a:xfrm>
            <a:off x="839787" y="1744960"/>
            <a:ext cx="5157789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F0502020204030204"/>
              <a:buNone/>
              <a:defRPr>
                <a:solidFill>
                  <a:srgbClr val="000000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F0502020204030204"/>
              <a:buNone/>
              <a:defRPr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F0502020204030204"/>
              <a:buNone/>
              <a:defRPr>
                <a:solidFill>
                  <a:srgbClr val="000000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F0502020204030204"/>
              <a:buNone/>
              <a:defRPr>
                <a:solidFill>
                  <a:srgbClr val="000000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F0502020204030204"/>
              <a:buNone/>
              <a:defRPr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>
            <a:spLocks noGrp="1"/>
          </p:cNvSpPr>
          <p:nvPr>
            <p:ph type="body" idx="2"/>
          </p:nvPr>
        </p:nvSpPr>
        <p:spPr>
          <a:xfrm>
            <a:off x="6172200" y="1744960"/>
            <a:ext cx="5183188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>
  <p:cSld name="仅标题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838200" y="2766218"/>
            <a:ext cx="10515600" cy="132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>
  <p:cSld name="空白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>
  <p:cSld name="图片与标题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46747" y="127000"/>
            <a:ext cx="4165201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8" name="Google Shape;38;p9"/>
          <p:cNvSpPr>
            <a:spLocks noGrp="1"/>
          </p:cNvSpPr>
          <p:nvPr>
            <p:ph type="pic" idx="2"/>
          </p:nvPr>
        </p:nvSpPr>
        <p:spPr>
          <a:xfrm>
            <a:off x="5183999" y="766353"/>
            <a:ext cx="5817376" cy="5094448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9"/>
          <p:cNvSpPr txBox="1">
            <a:spLocks noGrp="1"/>
          </p:cNvSpPr>
          <p:nvPr>
            <p:ph type="body" idx="1"/>
          </p:nvPr>
        </p:nvSpPr>
        <p:spPr>
          <a:xfrm>
            <a:off x="651826" y="2057400"/>
            <a:ext cx="4165202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 panose="020F0502020204030204"/>
              <a:buNone/>
              <a:defRPr sz="2000">
                <a:solidFill>
                  <a:srgbClr val="000000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 panose="020F0502020204030204"/>
              <a:buNone/>
              <a:defRPr sz="2000">
                <a:solidFill>
                  <a:srgbClr val="000000"/>
                </a:solidFill>
              </a:defRPr>
            </a:lvl2pPr>
            <a:lvl3pPr marL="1371600" lvl="2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 panose="020F0502020204030204"/>
              <a:buNone/>
              <a:defRPr sz="2000">
                <a:solidFill>
                  <a:srgbClr val="000000"/>
                </a:solidFill>
              </a:defRPr>
            </a:lvl3pPr>
            <a:lvl4pPr marL="1828800" lvl="3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 panose="020F0502020204030204"/>
              <a:buNone/>
              <a:defRPr sz="2000">
                <a:solidFill>
                  <a:srgbClr val="000000"/>
                </a:solidFill>
              </a:defRPr>
            </a:lvl4pPr>
            <a:lvl5pPr marL="2286000" lvl="4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 panose="020F0502020204030204"/>
              <a:buNone/>
              <a:defRPr sz="20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">
  <p:cSld name="内容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838200" y="551542"/>
            <a:ext cx="10515600" cy="5558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>
                <a:solidFill>
                  <a:srgbClr val="000000"/>
                </a:solidFill>
              </a:defRPr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>
                <a:solidFill>
                  <a:srgbClr val="000000"/>
                </a:solidFill>
              </a:defRPr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>
                <a:solidFill>
                  <a:srgbClr val="000000"/>
                </a:solidFill>
              </a:defRPr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>
                <a:solidFill>
                  <a:srgbClr val="000000"/>
                </a:solidFill>
              </a:defRPr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sz="1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" name="Google Shape;9;p1" descr="图像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0" y="0"/>
            <a:ext cx="12191998" cy="685800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3" name="文本框 14"/>
          <p:cNvSpPr txBox="1"/>
          <p:nvPr/>
        </p:nvSpPr>
        <p:spPr>
          <a:xfrm>
            <a:off x="548004" y="2125662"/>
            <a:ext cx="9451673" cy="82994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4800" spc="448">
                <a:solidFill>
                  <a:srgbClr val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通用矩阵乘（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GEMM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）优化</a:t>
            </a:r>
            <a:endParaRPr lang="zh-CN" dirty="0"/>
          </a:p>
        </p:txBody>
      </p:sp>
      <p:sp>
        <p:nvSpPr>
          <p:cNvPr id="94" name="文本框 16"/>
          <p:cNvSpPr txBox="1"/>
          <p:nvPr/>
        </p:nvSpPr>
        <p:spPr>
          <a:xfrm>
            <a:off x="623252" y="3418205"/>
            <a:ext cx="3735706" cy="52197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pc="990">
                <a:solidFill>
                  <a:srgbClr val="FFFFF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PingFang SC Regular" panose="020B0400000000000000" charset="-122"/>
              </a:defRPr>
            </a:lvl1pPr>
          </a:lstStyle>
          <a:p>
            <a:pPr algn="l"/>
            <a:r>
              <a:rPr lang="zh-CN" dirty="0"/>
              <a:t>汇报人：何明成</a:t>
            </a:r>
            <a:endParaRPr lang="zh-CN" altLang="en-US" dirty="0"/>
          </a:p>
          <a:p>
            <a:pPr algn="l"/>
            <a:r>
              <a:rPr lang="zh-CN" altLang="en-US" dirty="0"/>
              <a:t>时间：</a:t>
            </a:r>
            <a:r>
              <a:rPr lang="en-US" altLang="zh-CN" dirty="0"/>
              <a:t>2025.7.11</a:t>
            </a:r>
            <a:endParaRPr lang="zh-CN" altLang="en-US" dirty="0"/>
          </a:p>
        </p:txBody>
      </p:sp>
      <p:sp>
        <p:nvSpPr>
          <p:cNvPr id="95" name="文本框 6"/>
          <p:cNvSpPr txBox="1"/>
          <p:nvPr/>
        </p:nvSpPr>
        <p:spPr>
          <a:xfrm>
            <a:off x="10645774" y="245745"/>
            <a:ext cx="1252551" cy="3073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400">
                <a:solidFill>
                  <a:srgbClr val="BFBFBF"/>
                </a:solidFill>
                <a:latin typeface="DIN-Medium"/>
                <a:ea typeface="DIN-Medium"/>
                <a:cs typeface="DIN-Medium"/>
                <a:sym typeface="DIN-Medium"/>
              </a:defRPr>
            </a:lvl1pPr>
          </a:lstStyle>
          <a:p>
            <a:r>
              <a:t>yuansuan.com</a:t>
            </a:r>
          </a:p>
        </p:txBody>
      </p:sp>
      <p:pic>
        <p:nvPicPr>
          <p:cNvPr id="96" name="图片 12" descr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3515" y="578865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7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r>
              <a:t>跨界融合 · </a:t>
            </a:r>
            <a:r>
              <a:rPr lang="zh-CN"/>
              <a:t>创造价值</a:t>
            </a:r>
            <a:r>
              <a:t> · </a:t>
            </a:r>
            <a:r>
              <a:rPr lang="zh-CN"/>
              <a:t>成就客户</a:t>
            </a:r>
            <a:r>
              <a:t> · </a:t>
            </a:r>
            <a:r>
              <a:rPr lang="zh-CN"/>
              <a:t>定义专业</a:t>
            </a:r>
            <a:endParaRPr lang="zh-CN"/>
          </a:p>
        </p:txBody>
      </p:sp>
      <p:sp>
        <p:nvSpPr>
          <p:cNvPr id="98" name="线条"/>
          <p:cNvSpPr/>
          <p:nvPr/>
        </p:nvSpPr>
        <p:spPr>
          <a:xfrm>
            <a:off x="635000" y="3247707"/>
            <a:ext cx="4446270" cy="1"/>
          </a:xfrm>
          <a:prstGeom prst="line">
            <a:avLst/>
          </a:prstGeom>
          <a:ln w="12700">
            <a:solidFill>
              <a:srgbClr val="FFFFFF"/>
            </a:solidFill>
            <a:miter/>
          </a:ln>
        </p:spPr>
        <p:txBody>
          <a:bodyPr lIns="0" tIns="0" rIns="0" bIns="0"/>
          <a:lstStyle/>
          <a:p/>
        </p:txBody>
      </p:sp>
      <p:pic>
        <p:nvPicPr>
          <p:cNvPr id="100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30" y="367972"/>
            <a:ext cx="1198881" cy="47881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01" name="图像" descr="图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5456181"/>
            <a:ext cx="1252551" cy="941183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通用矩阵乘（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）优化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8515" y="1375410"/>
            <a:ext cx="10356850" cy="4896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+mn-ea"/>
                <a:ea typeface="+mn-ea"/>
              </a:rPr>
              <a:t>在</a:t>
            </a:r>
            <a:r>
              <a:rPr lang="en-US" altLang="zh-CN" sz="2400">
                <a:latin typeface="+mn-ea"/>
                <a:ea typeface="+mn-ea"/>
              </a:rPr>
              <a:t>how-to-optimize-gemm</a:t>
            </a:r>
            <a:r>
              <a:rPr lang="zh-CN" altLang="en-US" sz="2400">
                <a:latin typeface="+mn-ea"/>
                <a:ea typeface="+mn-ea"/>
              </a:rPr>
              <a:t>文章中，作者用了以下的步骤对矩阵乘法进行了优化。</a:t>
            </a:r>
            <a:endParaRPr lang="zh-CN" altLang="en-US" sz="2400">
              <a:latin typeface="+mn-ea"/>
              <a:ea typeface="+mn-ea"/>
            </a:endParaRPr>
          </a:p>
          <a:p>
            <a:r>
              <a:rPr lang="en-US" altLang="zh-CN" sz="2400">
                <a:latin typeface="+mn-ea"/>
                <a:ea typeface="+mn-ea"/>
              </a:rPr>
              <a:t>1.</a:t>
            </a:r>
            <a:r>
              <a:rPr lang="zh-CN" altLang="en-US" sz="2400">
                <a:latin typeface="+mn-ea"/>
                <a:ea typeface="+mn-ea"/>
              </a:rPr>
              <a:t>将循环内部运算逻辑经行封装，这一步不会对性能产生影响，只是为后续优化做好准备工作。</a:t>
            </a:r>
            <a:endParaRPr lang="zh-CN" altLang="en-US" sz="2400">
              <a:latin typeface="+mn-ea"/>
              <a:ea typeface="+mn-ea"/>
            </a:endParaRPr>
          </a:p>
          <a:p>
            <a:r>
              <a:rPr lang="en-US" altLang="zh-CN" sz="2400">
                <a:latin typeface="+mn-ea"/>
                <a:ea typeface="+mn-ea"/>
              </a:rPr>
              <a:t>2.</a:t>
            </a:r>
            <a:r>
              <a:rPr lang="zh-CN" altLang="en-US" sz="2400">
                <a:latin typeface="+mn-ea"/>
                <a:ea typeface="+mn-ea"/>
              </a:rPr>
              <a:t>将循环内部的单次运算</a:t>
            </a:r>
            <a:r>
              <a:rPr lang="zh-CN" altLang="en-US" sz="2400" b="1">
                <a:latin typeface="+mn-ea"/>
                <a:ea typeface="+mn-ea"/>
              </a:rPr>
              <a:t>拆分</a:t>
            </a:r>
            <a:r>
              <a:rPr lang="zh-CN" altLang="en-US" sz="2400">
                <a:latin typeface="+mn-ea"/>
                <a:ea typeface="+mn-ea"/>
              </a:rPr>
              <a:t>为</a:t>
            </a:r>
            <a:r>
              <a:rPr lang="en-US" altLang="zh-CN" sz="2400">
                <a:latin typeface="+mn-ea"/>
                <a:ea typeface="+mn-ea"/>
              </a:rPr>
              <a:t>1x4</a:t>
            </a:r>
            <a:r>
              <a:rPr lang="zh-CN" altLang="en-US" sz="2400">
                <a:latin typeface="+mn-ea"/>
                <a:ea typeface="+mn-ea"/>
              </a:rPr>
              <a:t>次运算，性能得到了初步提升。</a:t>
            </a:r>
            <a:endParaRPr lang="zh-CN" altLang="en-US" sz="2400">
              <a:latin typeface="+mn-ea"/>
              <a:ea typeface="+mn-ea"/>
            </a:endParaRPr>
          </a:p>
          <a:p>
            <a:r>
              <a:rPr lang="en-US" altLang="zh-CN" sz="2400">
                <a:latin typeface="+mn-ea"/>
                <a:ea typeface="+mn-ea"/>
              </a:rPr>
              <a:t>3.</a:t>
            </a:r>
            <a:r>
              <a:rPr lang="zh-CN" altLang="en-US" sz="2400">
                <a:latin typeface="+mn-ea"/>
                <a:ea typeface="+mn-ea"/>
              </a:rPr>
              <a:t>使用</a:t>
            </a:r>
            <a:r>
              <a:rPr lang="zh-CN" altLang="en-US" sz="2400" b="1">
                <a:latin typeface="+mn-ea"/>
                <a:ea typeface="+mn-ea"/>
              </a:rPr>
              <a:t>寄存器</a:t>
            </a:r>
            <a:r>
              <a:rPr lang="zh-CN" altLang="en-US" sz="2400">
                <a:latin typeface="+mn-ea"/>
                <a:ea typeface="+mn-ea"/>
              </a:rPr>
              <a:t>存储矩阵元素，使用间接</a:t>
            </a:r>
            <a:r>
              <a:rPr lang="zh-CN" altLang="en-US" sz="2400" b="1">
                <a:latin typeface="+mn-ea"/>
                <a:ea typeface="+mn-ea"/>
              </a:rPr>
              <a:t>地址访问</a:t>
            </a:r>
            <a:r>
              <a:rPr lang="zh-CN" altLang="en-US" sz="2400">
                <a:latin typeface="+mn-ea"/>
                <a:ea typeface="+mn-ea"/>
              </a:rPr>
              <a:t>指针以及</a:t>
            </a:r>
            <a:r>
              <a:rPr lang="zh-CN" altLang="en-US" sz="2400" b="1">
                <a:latin typeface="+mn-ea"/>
                <a:ea typeface="+mn-ea"/>
              </a:rPr>
              <a:t>循环展开</a:t>
            </a:r>
            <a:r>
              <a:rPr lang="zh-CN" altLang="en-US" sz="2400">
                <a:latin typeface="+mn-ea"/>
                <a:ea typeface="+mn-ea"/>
              </a:rPr>
              <a:t>，性能再次得到提升。</a:t>
            </a:r>
            <a:endParaRPr lang="zh-CN" altLang="en-US" sz="2400">
              <a:latin typeface="+mn-ea"/>
              <a:ea typeface="+mn-ea"/>
            </a:endParaRPr>
          </a:p>
          <a:p>
            <a:r>
              <a:rPr lang="en-US" altLang="zh-CN" sz="2400">
                <a:latin typeface="+mn-ea"/>
                <a:ea typeface="+mn-ea"/>
              </a:rPr>
              <a:t>4.</a:t>
            </a:r>
            <a:r>
              <a:rPr lang="zh-CN" altLang="en-US" sz="2400">
                <a:latin typeface="+mn-ea"/>
                <a:ea typeface="+mn-ea"/>
              </a:rPr>
              <a:t>进一步拆分为</a:t>
            </a:r>
            <a:r>
              <a:rPr lang="en-US" altLang="zh-CN" sz="2400">
                <a:latin typeface="+mn-ea"/>
                <a:ea typeface="+mn-ea"/>
              </a:rPr>
              <a:t>4x4</a:t>
            </a:r>
            <a:r>
              <a:rPr lang="zh-CN" altLang="en-US" sz="2400">
                <a:latin typeface="+mn-ea"/>
                <a:ea typeface="+mn-ea"/>
              </a:rPr>
              <a:t>的小块进行运算，采取和上面相同的优化，并进一步优化，使用</a:t>
            </a:r>
            <a:r>
              <a:rPr lang="zh-CN" altLang="en-US" sz="2400" b="1">
                <a:latin typeface="+mn-ea"/>
                <a:ea typeface="+mn-ea"/>
              </a:rPr>
              <a:t>向量</a:t>
            </a:r>
            <a:r>
              <a:rPr lang="zh-CN" altLang="en-US" sz="2400">
                <a:latin typeface="+mn-ea"/>
                <a:ea typeface="+mn-ea"/>
              </a:rPr>
              <a:t>寄存器和向量和向量运算，性能再次得到提升。</a:t>
            </a:r>
            <a:endParaRPr lang="zh-CN" altLang="en-US" sz="2400">
              <a:latin typeface="+mn-ea"/>
              <a:ea typeface="+mn-ea"/>
            </a:endParaRPr>
          </a:p>
          <a:p>
            <a:r>
              <a:rPr lang="en-US" altLang="zh-CN" sz="2400">
                <a:latin typeface="+mn-ea"/>
                <a:ea typeface="+mn-ea"/>
              </a:rPr>
              <a:t>5.</a:t>
            </a:r>
            <a:r>
              <a:rPr lang="zh-CN" altLang="en-US" sz="2400">
                <a:latin typeface="+mn-ea"/>
                <a:ea typeface="+mn-ea"/>
              </a:rPr>
              <a:t>采用了</a:t>
            </a:r>
            <a:r>
              <a:rPr lang="zh-CN" altLang="en-US" sz="2400" b="1">
                <a:latin typeface="+mn-ea"/>
                <a:ea typeface="+mn-ea"/>
              </a:rPr>
              <a:t>分块</a:t>
            </a:r>
            <a:r>
              <a:rPr lang="zh-CN" altLang="en-US" sz="2400">
                <a:latin typeface="+mn-ea"/>
                <a:ea typeface="+mn-ea"/>
              </a:rPr>
              <a:t>处理，性能再次优化。</a:t>
            </a:r>
            <a:endParaRPr lang="zh-CN" altLang="en-US" sz="2400">
              <a:latin typeface="+mn-ea"/>
              <a:ea typeface="+mn-ea"/>
            </a:endParaRPr>
          </a:p>
          <a:p>
            <a:r>
              <a:rPr lang="en-US" altLang="zh-CN" sz="2400">
                <a:latin typeface="+mn-ea"/>
                <a:ea typeface="+mn-ea"/>
              </a:rPr>
              <a:t>6.</a:t>
            </a:r>
            <a:r>
              <a:rPr lang="zh-CN" altLang="en-US" sz="2400">
                <a:latin typeface="+mn-ea"/>
                <a:ea typeface="+mn-ea"/>
              </a:rPr>
              <a:t>对矩阵元素</a:t>
            </a:r>
            <a:r>
              <a:rPr lang="zh-CN" altLang="en-US" sz="2400" b="1">
                <a:latin typeface="+mn-ea"/>
                <a:ea typeface="+mn-ea"/>
              </a:rPr>
              <a:t>打包</a:t>
            </a:r>
            <a:r>
              <a:rPr lang="zh-CN" altLang="en-US" sz="2400">
                <a:latin typeface="+mn-ea"/>
                <a:ea typeface="+mn-ea"/>
              </a:rPr>
              <a:t>，重新组织内存让地址连续，性能再次得到提升。</a:t>
            </a:r>
            <a:endParaRPr lang="zh-CN" altLang="en-US" sz="2400">
              <a:latin typeface="+mn-ea"/>
              <a:ea typeface="+mn-ea"/>
            </a:endParaRPr>
          </a:p>
          <a:p>
            <a:endParaRPr lang="zh-CN" altLang="en-US" sz="2400">
              <a:latin typeface="+mn-ea"/>
              <a:ea typeface="+mn-ea"/>
            </a:endParaRPr>
          </a:p>
          <a:p>
            <a:endParaRPr lang="zh-CN" altLang="en-US" sz="2400">
              <a:latin typeface="+mn-ea"/>
              <a:ea typeface="+mn-ea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通用矩阵乘（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）优化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8515" y="1305560"/>
            <a:ext cx="10695305" cy="5592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+mn-ea"/>
                <a:ea typeface="+mn-ea"/>
              </a:rPr>
              <a:t>最初版本代码</a:t>
            </a: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55" y="2006600"/>
            <a:ext cx="5219700" cy="399415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通用矩阵乘（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）优化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8515" y="1305560"/>
            <a:ext cx="10695305" cy="5592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+mn-ea"/>
                <a:ea typeface="+mn-ea"/>
              </a:rPr>
              <a:t>第一次的优化代码如下，将循环内部运算封装。</a:t>
            </a: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85" y="1884680"/>
            <a:ext cx="5797550" cy="464185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通用矩阵乘（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）优化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5485" y="1305560"/>
            <a:ext cx="10323195" cy="4896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+mn-ea"/>
                <a:ea typeface="+mn-ea"/>
              </a:rPr>
              <a:t>从前后性能对比图可以得到，这次的优化并没有使性能得到提升，但是为运算做好了模块化，给后续的优化提供了准备。</a:t>
            </a:r>
            <a:endParaRPr lang="zh-CN" altLang="en-US" sz="2400">
              <a:latin typeface="+mn-ea"/>
              <a:ea typeface="+mn-ea"/>
            </a:endParaRPr>
          </a:p>
          <a:p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575" y="2087245"/>
            <a:ext cx="5480050" cy="41148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通用矩阵乘（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）优化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8515" y="1375410"/>
            <a:ext cx="10356850" cy="4896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+mn-ea"/>
                <a:ea typeface="+mn-ea"/>
                <a:sym typeface="+mn-ea"/>
              </a:rPr>
              <a:t>这次优化在文章是经过了三次的更新，首先拆分为</a:t>
            </a:r>
            <a:r>
              <a:rPr lang="en-US" altLang="zh-CN" sz="2400">
                <a:latin typeface="+mn-ea"/>
                <a:ea typeface="+mn-ea"/>
                <a:sym typeface="+mn-ea"/>
              </a:rPr>
              <a:t>1x4</a:t>
            </a:r>
            <a:r>
              <a:rPr lang="zh-CN" altLang="en-US" sz="2400">
                <a:latin typeface="+mn-ea"/>
                <a:ea typeface="+mn-ea"/>
                <a:sym typeface="+mn-ea"/>
              </a:rPr>
              <a:t>次运算，第二步取消函数调用，第三步合并循环，最终版本如下。</a:t>
            </a: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" y="2082800"/>
            <a:ext cx="5969000" cy="15875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495" y="3913505"/>
            <a:ext cx="6273800" cy="21209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通用矩阵乘（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）优化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5485" y="1305560"/>
            <a:ext cx="10323195" cy="5552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+mn-ea"/>
                <a:ea typeface="+mn-ea"/>
              </a:rPr>
              <a:t>从前后性能对比图可以得到，这次的优化使性能得到了初步提升，尤其是对于矩阵大小不能完全存储在</a:t>
            </a:r>
            <a:r>
              <a:rPr lang="en-US" altLang="zh-CN" sz="2400">
                <a:latin typeface="+mn-ea"/>
                <a:ea typeface="+mn-ea"/>
              </a:rPr>
              <a:t>L2</a:t>
            </a:r>
            <a:r>
              <a:rPr lang="zh-CN" altLang="en-US" sz="2400">
                <a:latin typeface="+mn-ea"/>
                <a:ea typeface="+mn-ea"/>
              </a:rPr>
              <a:t>的情况得到了明显提升，因为此时对矩阵</a:t>
            </a:r>
            <a:r>
              <a:rPr lang="en-US" altLang="zh-CN" sz="2400">
                <a:latin typeface="+mn-ea"/>
                <a:ea typeface="+mn-ea"/>
              </a:rPr>
              <a:t>A(0,p)</a:t>
            </a:r>
            <a:r>
              <a:rPr lang="zh-CN" altLang="en-US" sz="2400">
                <a:latin typeface="+mn-ea"/>
                <a:ea typeface="+mn-ea"/>
              </a:rPr>
              <a:t>的读取相较于上个版本由</a:t>
            </a:r>
            <a:r>
              <a:rPr lang="en-US" altLang="zh-CN" sz="2400">
                <a:latin typeface="+mn-ea"/>
                <a:ea typeface="+mn-ea"/>
              </a:rPr>
              <a:t>4</a:t>
            </a:r>
            <a:r>
              <a:rPr lang="zh-CN" altLang="en-US" sz="2400">
                <a:latin typeface="+mn-ea"/>
                <a:ea typeface="+mn-ea"/>
              </a:rPr>
              <a:t>次变为了</a:t>
            </a:r>
            <a:r>
              <a:rPr lang="en-US" altLang="zh-CN" sz="2400">
                <a:latin typeface="+mn-ea"/>
                <a:ea typeface="+mn-ea"/>
              </a:rPr>
              <a:t>1</a:t>
            </a:r>
            <a:r>
              <a:rPr lang="zh-CN" altLang="en-US" sz="2400">
                <a:latin typeface="+mn-ea"/>
                <a:ea typeface="+mn-ea"/>
              </a:rPr>
              <a:t>次。</a:t>
            </a:r>
            <a:endParaRPr lang="zh-CN" altLang="en-US" sz="2400">
              <a:latin typeface="+mn-ea"/>
              <a:ea typeface="+mn-ea"/>
            </a:endParaRPr>
          </a:p>
          <a:p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2" name="图片 1" descr="t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15" y="2468880"/>
            <a:ext cx="5852160" cy="438912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通用矩阵乘（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）优化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5485" y="1305560"/>
            <a:ext cx="11486515" cy="5828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+mn-ea"/>
                <a:ea typeface="+mn-ea"/>
              </a:rPr>
              <a:t>进一步优化是将</a:t>
            </a:r>
            <a:r>
              <a:rPr lang="en-US" altLang="zh-CN" sz="2400">
                <a:latin typeface="+mn-ea"/>
                <a:ea typeface="+mn-ea"/>
              </a:rPr>
              <a:t>C</a:t>
            </a:r>
            <a:r>
              <a:rPr lang="zh-CN" altLang="en-US" sz="2400">
                <a:latin typeface="+mn-ea"/>
                <a:ea typeface="+mn-ea"/>
              </a:rPr>
              <a:t>矩阵各个元素存储在寄存器当中，为</a:t>
            </a:r>
            <a:r>
              <a:rPr lang="en-US" altLang="zh-CN" sz="2400">
                <a:latin typeface="+mn-ea"/>
                <a:ea typeface="+mn-ea"/>
              </a:rPr>
              <a:t>A</a:t>
            </a:r>
            <a:r>
              <a:rPr lang="zh-CN" altLang="en-US" sz="2400">
                <a:latin typeface="+mn-ea"/>
                <a:ea typeface="+mn-ea"/>
              </a:rPr>
              <a:t>矩阵的元素分配一个寄存器，使用间接寻址的方式访问</a:t>
            </a:r>
            <a:r>
              <a:rPr lang="en-US" altLang="zh-CN" sz="2400">
                <a:latin typeface="+mn-ea"/>
                <a:ea typeface="+mn-ea"/>
              </a:rPr>
              <a:t>B</a:t>
            </a:r>
            <a:r>
              <a:rPr lang="zh-CN" altLang="en-US" sz="2400">
                <a:latin typeface="+mn-ea"/>
                <a:ea typeface="+mn-ea"/>
              </a:rPr>
              <a:t>矩阵的元素并且对拆分部分进一步进行循环展开，最终代码如下。</a:t>
            </a: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15" y="2529840"/>
            <a:ext cx="4127500" cy="2971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020" y="2198370"/>
            <a:ext cx="3232150" cy="48323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0440" y="2439670"/>
            <a:ext cx="3130550" cy="3302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通用矩阵乘（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）优化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5485" y="1305560"/>
            <a:ext cx="10323195" cy="4896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+mn-ea"/>
                <a:ea typeface="+mn-ea"/>
              </a:rPr>
              <a:t>这次的优化可以明显的看出来在能装入</a:t>
            </a:r>
            <a:r>
              <a:rPr lang="en-US" altLang="zh-CN" sz="2400">
                <a:latin typeface="+mn-ea"/>
                <a:ea typeface="+mn-ea"/>
              </a:rPr>
              <a:t>L2</a:t>
            </a:r>
            <a:r>
              <a:rPr lang="zh-CN" altLang="en-US" sz="2400">
                <a:latin typeface="+mn-ea"/>
                <a:ea typeface="+mn-ea"/>
              </a:rPr>
              <a:t>缓存大小的矩阵性能得到了很大的提升，首先寄存器的使用避免了</a:t>
            </a:r>
            <a:r>
              <a:rPr lang="en-US" altLang="zh-CN" sz="2400">
                <a:latin typeface="+mn-ea"/>
                <a:ea typeface="+mn-ea"/>
              </a:rPr>
              <a:t>C</a:t>
            </a:r>
            <a:r>
              <a:rPr lang="zh-CN" altLang="en-US" sz="2400">
                <a:latin typeface="+mn-ea"/>
                <a:ea typeface="+mn-ea"/>
              </a:rPr>
              <a:t>矩阵频繁的内存写入，</a:t>
            </a:r>
            <a:r>
              <a:rPr lang="en-US" altLang="zh-CN" sz="2400">
                <a:latin typeface="+mn-ea"/>
                <a:ea typeface="+mn-ea"/>
              </a:rPr>
              <a:t>C</a:t>
            </a:r>
            <a:r>
              <a:rPr lang="zh-CN" altLang="en-US" sz="2400">
                <a:latin typeface="+mn-ea"/>
                <a:ea typeface="+mn-ea"/>
              </a:rPr>
              <a:t>的元素累加运算在寄存器中就可以进行。</a:t>
            </a:r>
            <a:r>
              <a:rPr lang="en-US" altLang="zh-CN" sz="2400">
                <a:latin typeface="+mn-ea"/>
                <a:ea typeface="+mn-ea"/>
              </a:rPr>
              <a:t>B</a:t>
            </a:r>
            <a:r>
              <a:rPr lang="zh-CN" altLang="en-US" sz="2400">
                <a:latin typeface="+mn-ea"/>
                <a:ea typeface="+mn-ea"/>
              </a:rPr>
              <a:t>用指针访问减小了地址运算的开销，循环展开加上间接寻址又再次减小了指针累加次数，最终性能对比如图所示。</a:t>
            </a:r>
            <a:endParaRPr lang="zh-CN" altLang="en-US" sz="2400">
              <a:latin typeface="+mn-ea"/>
              <a:ea typeface="+mn-ea"/>
            </a:endParaRPr>
          </a:p>
          <a:p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85" y="2711450"/>
            <a:ext cx="5511800" cy="414655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通用矩阵乘（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）优化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6915" y="1199515"/>
            <a:ext cx="11036300" cy="5658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+mn-ea"/>
                <a:ea typeface="+mn-ea"/>
              </a:rPr>
              <a:t>在上面的基础上，将矩阵运算进一步拆分为</a:t>
            </a:r>
            <a:r>
              <a:rPr lang="en-US" altLang="zh-CN" sz="2400">
                <a:latin typeface="+mn-ea"/>
                <a:ea typeface="+mn-ea"/>
              </a:rPr>
              <a:t>4x4</a:t>
            </a:r>
            <a:r>
              <a:rPr lang="zh-CN" altLang="en-US" sz="2400">
                <a:latin typeface="+mn-ea"/>
                <a:ea typeface="+mn-ea"/>
              </a:rPr>
              <a:t>，并引入了向量寄存器和向量运算，代码如下图所示。</a:t>
            </a: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15" y="1951990"/>
            <a:ext cx="6261100" cy="47942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830" y="1951990"/>
            <a:ext cx="4438650" cy="42799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通用矩阵乘（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）优化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6915" y="1199515"/>
            <a:ext cx="11036300" cy="5658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+mn-ea"/>
                <a:ea typeface="+mn-ea"/>
              </a:rPr>
              <a:t>在上面的基础上，将矩阵运算进一步拆分为</a:t>
            </a:r>
            <a:r>
              <a:rPr lang="en-US" altLang="zh-CN" sz="2400">
                <a:latin typeface="+mn-ea"/>
                <a:ea typeface="+mn-ea"/>
              </a:rPr>
              <a:t>4x4</a:t>
            </a:r>
            <a:r>
              <a:rPr lang="zh-CN" altLang="en-US" sz="2400">
                <a:latin typeface="+mn-ea"/>
                <a:ea typeface="+mn-ea"/>
              </a:rPr>
              <a:t>，并引入了向量寄存器和向量运算，代码如下图所示。</a:t>
            </a: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15" y="2327275"/>
            <a:ext cx="5791200" cy="34036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通用矩阵乘（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）优化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6915" y="1199515"/>
            <a:ext cx="11036300" cy="5658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+mn-ea"/>
                <a:ea typeface="+mn-ea"/>
              </a:rPr>
              <a:t>与</a:t>
            </a:r>
            <a:r>
              <a:rPr lang="en-US" altLang="zh-CN" sz="2400">
                <a:latin typeface="+mn-ea"/>
                <a:ea typeface="+mn-ea"/>
              </a:rPr>
              <a:t>1x4</a:t>
            </a:r>
            <a:r>
              <a:rPr lang="zh-CN" altLang="en-US" sz="2400">
                <a:latin typeface="+mn-ea"/>
                <a:ea typeface="+mn-ea"/>
              </a:rPr>
              <a:t>优化版本进行性能对比，可以看到进一步拆分和使用向量运算使性能看到得到了不错的提升，因为向量运算可以让单条指令进行多次运算。</a:t>
            </a: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35" y="2074545"/>
            <a:ext cx="5505450" cy="41275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通用矩阵乘（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）优化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6915" y="1199515"/>
            <a:ext cx="11036300" cy="6163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+mn-ea"/>
                <a:ea typeface="+mn-ea"/>
              </a:rPr>
              <a:t>进一步优化就是使用分块，根据自己的缓存大小选择合适的分块，使性能得到提升。</a:t>
            </a: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15" y="2070100"/>
            <a:ext cx="6064250" cy="51562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通用矩阵乘（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）优化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6915" y="1199515"/>
            <a:ext cx="11036300" cy="6163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+mn-ea"/>
                <a:ea typeface="+mn-ea"/>
              </a:rPr>
              <a:t>可以看到前后的性能对比如图所示。</a:t>
            </a: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15" y="1802130"/>
            <a:ext cx="5556250" cy="41275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通用矩阵乘（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）优化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6915" y="1199515"/>
            <a:ext cx="11036300" cy="6163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+mn-ea"/>
                <a:ea typeface="+mn-ea"/>
              </a:rPr>
              <a:t>最后的优化就是在前面的基础上将</a:t>
            </a:r>
            <a:r>
              <a:rPr lang="en-US" altLang="zh-CN" sz="2400">
                <a:latin typeface="+mn-ea"/>
                <a:ea typeface="+mn-ea"/>
              </a:rPr>
              <a:t>A</a:t>
            </a:r>
            <a:r>
              <a:rPr lang="zh-CN" altLang="en-US" sz="2400">
                <a:latin typeface="+mn-ea"/>
                <a:ea typeface="+mn-ea"/>
              </a:rPr>
              <a:t>矩阵元素和</a:t>
            </a:r>
            <a:r>
              <a:rPr lang="en-US" altLang="zh-CN" sz="2400">
                <a:latin typeface="+mn-ea"/>
                <a:ea typeface="+mn-ea"/>
              </a:rPr>
              <a:t>B</a:t>
            </a:r>
            <a:r>
              <a:rPr lang="zh-CN" altLang="en-US" sz="2400">
                <a:latin typeface="+mn-ea"/>
                <a:ea typeface="+mn-ea"/>
              </a:rPr>
              <a:t>矩阵元素打包重排让其地址连续。</a:t>
            </a: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15" y="2036445"/>
            <a:ext cx="4616450" cy="29464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380" y="2036445"/>
            <a:ext cx="4565650" cy="28448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通用矩阵乘（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）优化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6915" y="1199515"/>
            <a:ext cx="11036300" cy="6163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+mn-ea"/>
                <a:ea typeface="+mn-ea"/>
              </a:rPr>
              <a:t>最后的优化就是在前面的基础上将</a:t>
            </a:r>
            <a:r>
              <a:rPr lang="en-US" altLang="zh-CN" sz="2400">
                <a:latin typeface="+mn-ea"/>
                <a:ea typeface="+mn-ea"/>
              </a:rPr>
              <a:t>A</a:t>
            </a:r>
            <a:r>
              <a:rPr lang="zh-CN" altLang="en-US" sz="2400">
                <a:latin typeface="+mn-ea"/>
                <a:ea typeface="+mn-ea"/>
              </a:rPr>
              <a:t>矩阵元素和</a:t>
            </a:r>
            <a:r>
              <a:rPr lang="en-US" altLang="zh-CN" sz="2400">
                <a:latin typeface="+mn-ea"/>
                <a:ea typeface="+mn-ea"/>
              </a:rPr>
              <a:t>B</a:t>
            </a:r>
            <a:r>
              <a:rPr lang="zh-CN" altLang="en-US" sz="2400">
                <a:latin typeface="+mn-ea"/>
                <a:ea typeface="+mn-ea"/>
              </a:rPr>
              <a:t>矩阵元素打包重排让其地址连续。</a:t>
            </a: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20" y="1804035"/>
            <a:ext cx="6051550" cy="403225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通用矩阵乘（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）优化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6915" y="1199515"/>
            <a:ext cx="11036300" cy="6163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+mn-ea"/>
                <a:ea typeface="+mn-ea"/>
              </a:rPr>
              <a:t>与上个分块优化后的版本对比如图所示，可以看到性能得到了不小的提升。</a:t>
            </a: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2007870"/>
            <a:ext cx="5556250" cy="410845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 8"/>
          <p:cNvSpPr txBox="1"/>
          <p:nvPr/>
        </p:nvSpPr>
        <p:spPr>
          <a:xfrm>
            <a:off x="9462728" y="62022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BFBFBF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167" name="图片 26" descr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00">
            <a:off x="11587480" y="53720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8" name="文本框 21"/>
          <p:cNvSpPr txBox="1"/>
          <p:nvPr/>
        </p:nvSpPr>
        <p:spPr>
          <a:xfrm>
            <a:off x="818781" y="562565"/>
            <a:ext cx="11211032" cy="5308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lnSpc>
                <a:spcPct val="110000"/>
              </a:lnSpc>
              <a:defRPr sz="2600" spc="26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lvl1pPr>
          </a:lstStyle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通用矩阵乘（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）优化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6915" y="1199515"/>
            <a:ext cx="11036300" cy="6163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+mn-ea"/>
                <a:ea typeface="+mn-ea"/>
              </a:rPr>
              <a:t>下面就是最初版本与最终版本的性能对比。</a:t>
            </a:r>
            <a:endParaRPr lang="zh-CN" altLang="en-US" sz="2400">
              <a:latin typeface="+mn-ea"/>
              <a:ea typeface="+mn-ea"/>
            </a:endParaRPr>
          </a:p>
          <a:p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2" name="图片 1" descr="compare_MMult0_MMult_4x4_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" y="1746250"/>
            <a:ext cx="5309870" cy="398653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9" name="文本框 6"/>
          <p:cNvSpPr txBox="1"/>
          <p:nvPr/>
        </p:nvSpPr>
        <p:spPr>
          <a:xfrm>
            <a:off x="10810875" y="245745"/>
            <a:ext cx="1252551" cy="3073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BFBFBF"/>
                </a:solidFill>
                <a:latin typeface="DIN-Medium"/>
                <a:ea typeface="DIN-Medium"/>
                <a:cs typeface="DIN-Medium"/>
                <a:sym typeface="DIN-Medium"/>
              </a:defRPr>
            </a:lvl1pPr>
          </a:lstStyle>
          <a:p>
            <a:r>
              <a:t>yuansuan.com</a:t>
            </a:r>
          </a:p>
        </p:txBody>
      </p:sp>
      <p:sp>
        <p:nvSpPr>
          <p:cNvPr id="360" name="文本框 8"/>
          <p:cNvSpPr txBox="1"/>
          <p:nvPr/>
        </p:nvSpPr>
        <p:spPr>
          <a:xfrm>
            <a:off x="9462728" y="6227656"/>
            <a:ext cx="2463165" cy="24511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>
                <a:solidFill>
                  <a:srgbClr val="A7A7A7"/>
                </a:solidFill>
                <a:latin typeface="PingFang SC Medium" panose="020B0400000000000000" charset="-122"/>
                <a:ea typeface="PingFang SC Medium" panose="020B0400000000000000" charset="-122"/>
                <a:cs typeface="PingFang SC Medium" panose="020B0400000000000000" charset="-122"/>
                <a:sym typeface="PingFang SC Medium" panose="020B0400000000000000" charset="-122"/>
              </a:defRPr>
            </a:lvl1pPr>
          </a:lstStyle>
          <a:p>
            <a:pPr algn="r"/>
            <a:r>
              <a:rPr>
                <a:sym typeface="+mn-ea"/>
              </a:rPr>
              <a:t>跨界融合 · </a:t>
            </a:r>
            <a:r>
              <a:rPr lang="zh-CN">
                <a:sym typeface="+mn-ea"/>
              </a:rPr>
              <a:t>创造价值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成就客户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定义专业</a:t>
            </a:r>
            <a:endParaRPr lang="zh-CN">
              <a:sym typeface="+mn-ea"/>
            </a:endParaRPr>
          </a:p>
        </p:txBody>
      </p:sp>
      <p:pic>
        <p:nvPicPr>
          <p:cNvPr id="361" name="图片 12" descr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3515" y="5788659"/>
            <a:ext cx="264161" cy="2762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62" name="文本框 14"/>
          <p:cNvSpPr txBox="1"/>
          <p:nvPr/>
        </p:nvSpPr>
        <p:spPr>
          <a:xfrm>
            <a:off x="649604" y="2481262"/>
            <a:ext cx="6680753" cy="9804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6000" spc="560">
                <a:solidFill>
                  <a:srgbClr val="FFFFFF"/>
                </a:solidFill>
                <a:latin typeface="DIN Alternate Bold" panose="020B0500000000000000"/>
                <a:ea typeface="DIN Alternate Bold" panose="020B0500000000000000"/>
                <a:cs typeface="DIN Alternate Bold" panose="020B0500000000000000"/>
                <a:sym typeface="DIN Alternate Bold" panose="020B0500000000000000"/>
              </a:defRPr>
            </a:lvl1pPr>
          </a:lstStyle>
          <a:p>
            <a:r>
              <a:t>THANKS</a:t>
            </a:r>
          </a:p>
        </p:txBody>
      </p:sp>
      <p:pic>
        <p:nvPicPr>
          <p:cNvPr id="363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30" y="367972"/>
            <a:ext cx="1198881" cy="47881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4" name="图像" descr="图像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5456181"/>
            <a:ext cx="1252551" cy="941183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1796</Words>
  <Application>WPS 演示</Application>
  <PresentationFormat>宽屏</PresentationFormat>
  <Paragraphs>129</Paragraphs>
  <Slides>19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6" baseType="lpstr">
      <vt:lpstr>Arial</vt:lpstr>
      <vt:lpstr>宋体</vt:lpstr>
      <vt:lpstr>Wingdings</vt:lpstr>
      <vt:lpstr>Arial</vt:lpstr>
      <vt:lpstr>Calibri</vt:lpstr>
      <vt:lpstr>Helvetica Neue</vt:lpstr>
      <vt:lpstr>PingFang SC Semibold</vt:lpstr>
      <vt:lpstr>Times New Roman</vt:lpstr>
      <vt:lpstr>PingFang SC Regular</vt:lpstr>
      <vt:lpstr>DIN-Medium</vt:lpstr>
      <vt:lpstr>Segoe Print</vt:lpstr>
      <vt:lpstr>PingFang SC Medium</vt:lpstr>
      <vt:lpstr>DIN Alternate Bold</vt:lpstr>
      <vt:lpstr>Segoe UI Symbol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0812</cp:lastModifiedBy>
  <cp:revision>879</cp:revision>
  <dcterms:created xsi:type="dcterms:W3CDTF">2024-07-03T11:54:00Z</dcterms:created>
  <dcterms:modified xsi:type="dcterms:W3CDTF">2025-07-11T07:52:12Z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7C4BDCBA35A04479B37CF8303A7CFF01_13</vt:lpwstr>
  </property>
  <property fmtid="{D5CDD505-2E9C-101B-9397-08002B2CF9AE}" pid="3" name="KSOProductBuildVer">
    <vt:lpwstr>2052-11.8.2.8875</vt:lpwstr>
  </property>
</Properties>
</file>