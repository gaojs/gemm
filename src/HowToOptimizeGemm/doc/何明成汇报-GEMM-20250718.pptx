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  <p:sldId id="259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77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标题和内容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2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3" name="文本框 14"/>
          <p:cNvSpPr txBox="1"/>
          <p:nvPr/>
        </p:nvSpPr>
        <p:spPr>
          <a:xfrm>
            <a:off x="548004" y="2125662"/>
            <a:ext cx="9451673" cy="82994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4800" spc="448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）优化</a:t>
            </a:r>
            <a:endParaRPr lang="zh-CN" dirty="0"/>
          </a:p>
        </p:txBody>
      </p:sp>
      <p:sp>
        <p:nvSpPr>
          <p:cNvPr id="94" name="文本框 16"/>
          <p:cNvSpPr txBox="1"/>
          <p:nvPr/>
        </p:nvSpPr>
        <p:spPr>
          <a:xfrm>
            <a:off x="622935" y="3418205"/>
            <a:ext cx="4458335" cy="6451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pc="99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PingFang SC Regular" panose="020B0400000000000000" charset="-122"/>
              </a:defRPr>
            </a:lvl1pPr>
          </a:lstStyle>
          <a:p>
            <a:pPr algn="l"/>
            <a:r>
              <a:rPr lang="zh-CN" dirty="0"/>
              <a:t>汇报人：何明成</a:t>
            </a:r>
            <a:r>
              <a:rPr lang="en-US" altLang="zh-CN" dirty="0"/>
              <a:t>-</a:t>
            </a:r>
            <a:r>
              <a:rPr lang="zh-CN" altLang="en-US" dirty="0"/>
              <a:t>刘炅</a:t>
            </a:r>
            <a:r>
              <a:rPr lang="zh-CN" altLang="en-US" dirty="0"/>
              <a:t>珺</a:t>
            </a:r>
            <a:endParaRPr lang="zh-CN" altLang="en-US" dirty="0"/>
          </a:p>
          <a:p>
            <a:pPr algn="l"/>
            <a:r>
              <a:rPr lang="zh-CN" altLang="en-US" dirty="0"/>
              <a:t>时间：</a:t>
            </a:r>
            <a:r>
              <a:rPr lang="en-US" altLang="zh-CN" dirty="0"/>
              <a:t>2025.7.18</a:t>
            </a:r>
            <a:endParaRPr lang="zh-CN" altLang="en-US" dirty="0"/>
          </a:p>
        </p:txBody>
      </p:sp>
      <p:sp>
        <p:nvSpPr>
          <p:cNvPr id="95" name="文本框 6"/>
          <p:cNvSpPr txBox="1"/>
          <p:nvPr/>
        </p:nvSpPr>
        <p:spPr>
          <a:xfrm>
            <a:off x="10645774" y="245745"/>
            <a:ext cx="1252551" cy="3073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400">
                <a:solidFill>
                  <a:srgbClr val="BFBFBF"/>
                </a:solidFill>
                <a:latin typeface="DIN-Medium"/>
                <a:ea typeface="DIN-Medium"/>
                <a:cs typeface="DIN-Medium"/>
                <a:sym typeface="DIN-Medium"/>
              </a:defRPr>
            </a:lvl1pPr>
          </a:lstStyle>
          <a:p>
            <a:r>
              <a:t>yuansuan.com</a:t>
            </a:r>
          </a:p>
        </p:txBody>
      </p:sp>
      <p:pic>
        <p:nvPicPr>
          <p:cNvPr id="96" name="图片 12" descr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515" y="578865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7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r>
              <a:t>跨界融合 · </a:t>
            </a:r>
            <a:r>
              <a:rPr lang="zh-CN"/>
              <a:t>创造价值</a:t>
            </a:r>
            <a:r>
              <a:t> · </a:t>
            </a:r>
            <a:r>
              <a:rPr lang="zh-CN"/>
              <a:t>成就客户</a:t>
            </a:r>
            <a:r>
              <a:t> · </a:t>
            </a:r>
            <a:r>
              <a:rPr lang="zh-CN"/>
              <a:t>定义专业</a:t>
            </a:r>
            <a:endParaRPr lang="zh-CN"/>
          </a:p>
        </p:txBody>
      </p:sp>
      <p:sp>
        <p:nvSpPr>
          <p:cNvPr id="98" name="线条"/>
          <p:cNvSpPr/>
          <p:nvPr/>
        </p:nvSpPr>
        <p:spPr>
          <a:xfrm>
            <a:off x="635000" y="3247707"/>
            <a:ext cx="4446270" cy="1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lIns="0" tIns="0" rIns="0" bIns="0"/>
          <a:lstStyle/>
          <a:p/>
        </p:txBody>
      </p:sp>
      <p:pic>
        <p:nvPicPr>
          <p:cNvPr id="100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" y="367972"/>
            <a:ext cx="1198881" cy="4788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1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456181"/>
            <a:ext cx="1252551" cy="94118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8515" y="1168400"/>
            <a:ext cx="10768965" cy="5103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>
              <a:latin typeface="+mn-ea"/>
              <a:ea typeface="+mn-ea"/>
            </a:endParaRPr>
          </a:p>
          <a:p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06215" y="3866515"/>
            <a:ext cx="4179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r>
              <a:rPr lang="zh-CN" altLang="en-US"/>
              <a:t>矩阵乘法</a:t>
            </a:r>
            <a:endParaRPr lang="zh-CN" altLang="en-US"/>
          </a:p>
        </p:txBody>
      </p:sp>
      <p:pic>
        <p:nvPicPr>
          <p:cNvPr id="22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2672080" y="1093470"/>
            <a:ext cx="6945630" cy="24593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1007110" y="4548505"/>
                <a:ext cx="10275570" cy="15519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/>
                  <a:t>设</a:t>
                </a:r>
                <a:r>
                  <a:rPr lang="" altLang="en-US"/>
                  <a:t> </a:t>
                </a:r>
                <a:r>
                  <a:rPr lang="en-US" altLang="zh-CN"/>
                  <a:t>A</a:t>
                </a:r>
                <a:r>
                  <a:rPr lang="" altLang="en-US"/>
                  <a:t> </a:t>
                </a:r>
                <a:r>
                  <a:rPr lang="zh-CN" altLang="en-US"/>
                  <a:t>是一个</a:t>
                </a:r>
                <a:r>
                  <a:rPr lang="" altLang="en-US"/>
                  <a:t>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𝑚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</m:oMath>
                </a14:m>
                <a:r>
                  <a:rPr lang="zh-CN" altLang="en-US"/>
                  <a:t>阶矩阵（即</a:t>
                </a:r>
                <a:r>
                  <a:rPr lang="" altLang="en-US"/>
                  <a:t> </a:t>
                </a:r>
                <a:r>
                  <a:rPr lang="en-US" altLang="zh-CN"/>
                  <a:t>m</a:t>
                </a:r>
                <a:r>
                  <a:rPr lang="" altLang="en-US"/>
                  <a:t> </a:t>
                </a:r>
                <a:r>
                  <a:rPr lang="zh-CN" altLang="en-US"/>
                  <a:t>行、</a:t>
                </a:r>
                <a:r>
                  <a:rPr lang="en-US" altLang="zh-CN"/>
                  <a:t>k</a:t>
                </a:r>
                <a:r>
                  <a:rPr lang="" altLang="en-US"/>
                  <a:t> </a:t>
                </a:r>
                <a:r>
                  <a:rPr lang="zh-CN" altLang="en-US"/>
                  <a:t>列），</a:t>
                </a:r>
                <a:r>
                  <a:rPr lang="en-US" altLang="zh-CN"/>
                  <a:t>B</a:t>
                </a:r>
                <a:r>
                  <a:rPr lang="" altLang="en-US"/>
                  <a:t> </a:t>
                </a:r>
                <a:r>
                  <a:rPr lang="zh-CN" altLang="en-US"/>
                  <a:t>是一个</a:t>
                </a:r>
                <a:r>
                  <a:rPr lang="" altLang="en-US"/>
                  <a:t>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lang="zh-CN" altLang="en-US"/>
                  <a:t>阶矩阵（即</a:t>
                </a:r>
                <a:r>
                  <a:rPr lang="" altLang="en-US"/>
                  <a:t> </a:t>
                </a:r>
                <a:r>
                  <a:rPr lang="en-US" altLang="zh-CN"/>
                  <a:t>k</a:t>
                </a:r>
                <a:r>
                  <a:rPr lang="" altLang="en-US"/>
                  <a:t> </a:t>
                </a:r>
                <a:r>
                  <a:rPr lang="zh-CN" altLang="en-US"/>
                  <a:t>行、</a:t>
                </a:r>
                <a:r>
                  <a:rPr lang="en-US" altLang="zh-CN"/>
                  <a:t>n</a:t>
                </a:r>
                <a:r>
                  <a:rPr lang="" altLang="en-US"/>
                  <a:t> </a:t>
                </a:r>
                <a:r>
                  <a:rPr lang="zh-CN" altLang="en-US"/>
                  <a:t>列），则它们的乘积</a:t>
                </a:r>
                <a:r>
                  <a:rPr lang="" altLang="en-US"/>
                  <a:t>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𝐶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</m:oMath>
                </a14:m>
                <a:r>
                  <a:rPr lang="zh-CN" altLang="en-US"/>
                  <a:t>或简写为</a:t>
                </a:r>
                <a:r>
                  <a:rPr lang="" altLang="en-US"/>
                  <a:t>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𝐶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𝐴𝐵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是一个</a:t>
                </a:r>
                <a:r>
                  <a:rPr lang="" altLang="en-US"/>
                  <a:t>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𝑚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lang="zh-CN" altLang="en-US"/>
                  <a:t>阶矩阵，且满足</a:t>
                </a:r>
                <a:r>
                  <a:rPr lang="en-US" altLang="zh-CN"/>
                  <a:t>:</a:t>
                </a:r>
                <a:endParaRPr lang="en-US" altLang="zh-CN"/>
              </a:p>
              <a:p>
                <a:r>
                  <a:rPr lang="zh-CN" altLang="en-US"/>
                  <a:t>对于</a:t>
                </a:r>
                <a:r>
                  <a:rPr lang="" altLang="en-US"/>
                  <a:t> </a:t>
                </a:r>
                <a:r>
                  <a:rPr lang="en-US" altLang="zh-CN"/>
                  <a:t>C</a:t>
                </a:r>
                <a:r>
                  <a:rPr lang="" altLang="en-US"/>
                  <a:t> </a:t>
                </a:r>
                <a:r>
                  <a:rPr lang="zh-CN" altLang="en-US"/>
                  <a:t>中的任意元素</a:t>
                </a:r>
                <a:r>
                  <a:rPr lang="" altLang="en-US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c</m:t>
                        </m:r>
                      </m:e>
                      <m:sub>
                        <m:r>
                          <a:rPr lang="en-US" altLang="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/>
                  <a:t>（第</a:t>
                </a:r>
                <a:r>
                  <a:rPr lang="" altLang="en-US"/>
                  <a:t> </a:t>
                </a:r>
                <a:r>
                  <a:rPr lang="en-US" altLang="zh-CN"/>
                  <a:t>i</a:t>
                </a:r>
                <a:r>
                  <a:rPr lang="" altLang="en-US"/>
                  <a:t> </a:t>
                </a:r>
                <a:r>
                  <a:rPr lang="zh-CN" altLang="en-US"/>
                  <a:t>行第</a:t>
                </a:r>
                <a:r>
                  <a:rPr lang="" altLang="en-US"/>
                  <a:t> </a:t>
                </a:r>
                <a:r>
                  <a:rPr lang="en-US" altLang="zh-CN"/>
                  <a:t>j</a:t>
                </a:r>
                <a:r>
                  <a:rPr lang="" altLang="en-US"/>
                  <a:t> </a:t>
                </a:r>
                <a:r>
                  <a:rPr lang="zh-CN" altLang="en-US"/>
                  <a:t>列），其值等于矩阵</a:t>
                </a:r>
                <a:r>
                  <a:rPr lang="" altLang="en-US"/>
                  <a:t> </a:t>
                </a:r>
                <a:r>
                  <a:rPr lang="en-US" altLang="zh-CN"/>
                  <a:t>A</a:t>
                </a:r>
                <a:r>
                  <a:rPr lang="" altLang="en-US"/>
                  <a:t> </a:t>
                </a:r>
                <a:r>
                  <a:rPr lang="zh-CN" altLang="en-US"/>
                  <a:t>的第</a:t>
                </a:r>
                <a:r>
                  <a:rPr lang="" altLang="en-US"/>
                  <a:t> </a:t>
                </a:r>
                <a:r>
                  <a:rPr lang="en-US" altLang="zh-CN"/>
                  <a:t>i</a:t>
                </a:r>
                <a:r>
                  <a:rPr lang="" altLang="en-US"/>
                  <a:t> </a:t>
                </a:r>
                <a:r>
                  <a:rPr lang="zh-CN" altLang="en-US"/>
                  <a:t>行与矩阵</a:t>
                </a:r>
                <a:r>
                  <a:rPr lang="" altLang="en-US"/>
                  <a:t> </a:t>
                </a:r>
                <a:r>
                  <a:rPr lang="en-US" altLang="zh-CN"/>
                  <a:t>B</a:t>
                </a:r>
                <a:r>
                  <a:rPr lang="" altLang="en-US"/>
                  <a:t> </a:t>
                </a:r>
                <a:r>
                  <a:rPr lang="zh-CN" altLang="en-US"/>
                  <a:t>的第</a:t>
                </a:r>
                <a:r>
                  <a:rPr lang="" altLang="en-US"/>
                  <a:t> </a:t>
                </a:r>
                <a:r>
                  <a:rPr lang="en-US" altLang="zh-CN"/>
                  <a:t>j</a:t>
                </a:r>
                <a:r>
                  <a:rPr lang="" altLang="en-US"/>
                  <a:t> </a:t>
                </a:r>
                <a:r>
                  <a:rPr lang="zh-CN" altLang="en-US"/>
                  <a:t>列对应元素相乘后求和，即：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⋯+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𝑖𝑡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10" y="4548505"/>
                <a:ext cx="10275570" cy="155194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8515" y="1468120"/>
            <a:ext cx="10356850" cy="4896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>
              <a:latin typeface="+mn-ea"/>
              <a:ea typeface="+mn-ea"/>
            </a:endParaRPr>
          </a:p>
        </p:txBody>
      </p: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5883910" y="1375410"/>
            <a:ext cx="5020310" cy="293497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14170"/>
            <a:ext cx="4725670" cy="25920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800225" y="4444365"/>
            <a:ext cx="2851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未经过优化的</a:t>
            </a:r>
            <a:r>
              <a:rPr lang="zh-CN" altLang="en-US"/>
              <a:t>原代码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054215" y="4444365"/>
            <a:ext cx="3035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</a:t>
            </a:r>
            <a:r>
              <a:rPr lang="zh-CN" altLang="en-US"/>
              <a:t>未经过优化的性能</a:t>
            </a:r>
            <a:r>
              <a:rPr lang="zh-CN" altLang="en-US"/>
              <a:t>图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960120" y="5252720"/>
                <a:ext cx="9547860" cy="12865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GFLOPS</a:t>
                </a:r>
                <a:r>
                  <a:rPr lang="zh-CN" altLang="en-US"/>
                  <a:t>：即</a:t>
                </a:r>
                <a:r>
                  <a:rPr lang="en-US" altLang="zh-CN"/>
                  <a:t> “</a:t>
                </a:r>
                <a:r>
                  <a:rPr lang="zh-CN" altLang="en-US"/>
                  <a:t>每秒十亿次浮点运算</a:t>
                </a:r>
                <a:r>
                  <a:rPr lang="en-US" altLang="zh-CN"/>
                  <a:t>”</a:t>
                </a:r>
                <a:r>
                  <a:rPr lang="zh-CN" altLang="en-US"/>
                  <a:t>，</a:t>
                </a:r>
                <a:r>
                  <a:rPr lang="en-US" altLang="zh-CN"/>
                  <a:t>GFLOPS </a:t>
                </a:r>
                <a:r>
                  <a:rPr lang="zh-CN" altLang="en-US"/>
                  <a:t>的数值由</a:t>
                </a:r>
                <a:r>
                  <a:rPr lang="en-US" altLang="zh-CN"/>
                  <a:t> “</a:t>
                </a:r>
                <a:r>
                  <a:rPr lang="zh-CN" altLang="en-US"/>
                  <a:t>运算次数</a:t>
                </a:r>
                <a:r>
                  <a:rPr lang="en-US" altLang="zh-CN"/>
                  <a:t>” </a:t>
                </a:r>
                <a:r>
                  <a:rPr lang="zh-CN" altLang="en-US"/>
                  <a:t>和</a:t>
                </a:r>
                <a:r>
                  <a:rPr lang="en-US" altLang="zh-CN"/>
                  <a:t> “</a:t>
                </a:r>
                <a:r>
                  <a:rPr lang="zh-CN" altLang="en-US"/>
                  <a:t>时间</a:t>
                </a:r>
                <a:r>
                  <a:rPr lang="en-US" altLang="zh-CN"/>
                  <a:t>” </a:t>
                </a:r>
                <a:r>
                  <a:rPr lang="zh-CN" altLang="en-US"/>
                  <a:t>共同决定，公式为：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G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𝐹𝐿𝑂𝑃𝑆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总浮点运算次数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（</m:t>
                        </m:r>
                        <m:r>
                          <a:rPr lang="zh-CN" altLang="en-US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十亿次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）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运算时间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（</m:t>
                        </m:r>
                        <m:r>
                          <a:rPr lang="zh-CN" altLang="en-US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秒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）</m:t>
                        </m:r>
                      </m:den>
                    </m:f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，对应到矩阵乘法就是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𝐺𝐹𝐿𝑂𝑃𝑆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×m×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𝑒−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9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运算时间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（</m:t>
                        </m:r>
                        <m:r>
                          <a:rPr lang="zh-CN" altLang="en-US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秒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）</m:t>
                        </m:r>
                      </m:den>
                    </m:f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5252720"/>
                <a:ext cx="9547860" cy="12865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" name="文本框 6"/>
          <p:cNvSpPr txBox="1"/>
          <p:nvPr/>
        </p:nvSpPr>
        <p:spPr>
          <a:xfrm>
            <a:off x="818515" y="1375410"/>
            <a:ext cx="10356850" cy="4896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>
              <a:latin typeface="+mn-ea"/>
              <a:ea typeface="+mn-ea"/>
            </a:endParaRPr>
          </a:p>
          <a:p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1280161" y="1375410"/>
            <a:ext cx="7840979" cy="2979420"/>
          </a:xfrm>
          <a:prstGeom prst="rect">
            <a:avLst/>
          </a:prstGeom>
        </p:spPr>
      </p:pic>
      <p:sp>
        <p:nvSpPr>
          <p:cNvPr id="12" name="文本框 21"/>
          <p:cNvSpPr txBox="1"/>
          <p:nvPr/>
        </p:nvSpPr>
        <p:spPr>
          <a:xfrm>
            <a:off x="81878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第一次优化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封装函数，循环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展开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90015" y="4625340"/>
            <a:ext cx="7832725" cy="1356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拆分为</a:t>
            </a:r>
            <a:r>
              <a:rPr lang="en-US" altLang="zh-CN"/>
              <a:t>1x4</a:t>
            </a:r>
            <a:r>
              <a:rPr lang="zh-CN" altLang="en-US"/>
              <a:t>的运算图，原本一次循环运算是</a:t>
            </a:r>
            <a:r>
              <a:rPr lang="en-US" altLang="zh-CN"/>
              <a:t>A</a:t>
            </a:r>
            <a:r>
              <a:rPr lang="zh-CN" altLang="en-US"/>
              <a:t>的一行乘上</a:t>
            </a:r>
            <a:r>
              <a:rPr lang="en-US" altLang="zh-CN"/>
              <a:t>B</a:t>
            </a:r>
            <a:r>
              <a:rPr lang="zh-CN" altLang="en-US"/>
              <a:t>的一列，现在一次循环运算是</a:t>
            </a:r>
            <a:r>
              <a:rPr lang="en-US" altLang="zh-CN"/>
              <a:t>A</a:t>
            </a:r>
            <a:r>
              <a:rPr lang="zh-CN" altLang="en-US"/>
              <a:t>的一行乘上</a:t>
            </a:r>
            <a:r>
              <a:rPr lang="en-US" altLang="zh-CN"/>
              <a:t>B</a:t>
            </a:r>
            <a:r>
              <a:rPr lang="zh-CN" altLang="en-US"/>
              <a:t>的</a:t>
            </a:r>
            <a:r>
              <a:rPr lang="zh-CN" altLang="en-US"/>
              <a:t>四列。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第一次优化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封装函数，循环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展开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8515" y="1375410"/>
            <a:ext cx="10356850" cy="4896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latin typeface="+mn-ea"/>
                <a:ea typeface="+mn-ea"/>
              </a:rPr>
              <a:t>[</a:t>
            </a:r>
            <a:r>
              <a:rPr lang="zh-CN" altLang="en-US" sz="2400">
                <a:latin typeface="+mn-ea"/>
                <a:ea typeface="+mn-ea"/>
              </a:rPr>
              <a:t>图片</a:t>
            </a:r>
            <a:r>
              <a:rPr lang="en-US" altLang="zh-CN" sz="2400">
                <a:latin typeface="+mn-ea"/>
                <a:ea typeface="+mn-ea"/>
              </a:rPr>
              <a:t>]</a:t>
            </a: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20" y="1375410"/>
            <a:ext cx="4477385" cy="35490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53795" y="5194935"/>
            <a:ext cx="4041140" cy="760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封装为函数</a:t>
            </a:r>
            <a:r>
              <a:rPr lang="zh-CN" altLang="en-US"/>
              <a:t>并进行</a:t>
            </a:r>
            <a:r>
              <a:rPr lang="zh-CN" altLang="en-US" b="1"/>
              <a:t>循环展开</a:t>
            </a:r>
            <a:r>
              <a:rPr lang="zh-CN" altLang="en-US"/>
              <a:t>，单次循环里面进行四次</a:t>
            </a:r>
            <a:r>
              <a:rPr lang="zh-CN" altLang="en-US"/>
              <a:t>运算。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454140" y="5092700"/>
            <a:ext cx="4099560" cy="862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可以看到此次循环性能并没有得到明显的提升，这一步的优化是为后续的进一步</a:t>
            </a:r>
            <a:r>
              <a:rPr lang="zh-CN" altLang="en-US"/>
              <a:t>优化做准备。</a:t>
            </a:r>
            <a:endParaRPr lang="zh-CN" altLang="en-US"/>
          </a:p>
        </p:txBody>
      </p:sp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5824220" y="1374775"/>
            <a:ext cx="5440045" cy="35572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第二次优化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封装函数，取消函数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调用，循环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合并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8515" y="1375410"/>
            <a:ext cx="10356850" cy="4896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30" y="1375410"/>
            <a:ext cx="5372735" cy="36569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82675" y="5360035"/>
            <a:ext cx="4759325" cy="1158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这一次优化实际是三次小优化的总和，第一次是将原本调用四次</a:t>
            </a:r>
            <a:r>
              <a:rPr lang="en-US" altLang="zh-CN"/>
              <a:t>AddDot</a:t>
            </a:r>
            <a:r>
              <a:rPr lang="zh-CN" altLang="en-US"/>
              <a:t>变成调用一次</a:t>
            </a:r>
            <a:r>
              <a:rPr lang="en-US" altLang="zh-CN"/>
              <a:t>AddDot1x4</a:t>
            </a:r>
            <a:r>
              <a:rPr lang="zh-CN" altLang="en-US"/>
              <a:t>，但是这次优化在</a:t>
            </a:r>
            <a:r>
              <a:rPr lang="en-US" altLang="zh-CN"/>
              <a:t>AddDot1x4</a:t>
            </a:r>
            <a:r>
              <a:rPr lang="zh-CN" altLang="en-US"/>
              <a:t>函数内仍然是调用了四次</a:t>
            </a:r>
            <a:r>
              <a:rPr lang="en-US" altLang="zh-CN"/>
              <a:t>AddDot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02450" y="1104900"/>
            <a:ext cx="4272915" cy="176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第二次优化是手动将</a:t>
            </a:r>
            <a:r>
              <a:rPr lang="en-US" altLang="zh-CN"/>
              <a:t>AddDo1x4t</a:t>
            </a:r>
            <a:r>
              <a:rPr lang="zh-CN" altLang="en-US"/>
              <a:t>内的四次</a:t>
            </a:r>
            <a:r>
              <a:rPr lang="en-US" altLang="zh-CN"/>
              <a:t>Adddot</a:t>
            </a:r>
            <a:r>
              <a:rPr lang="zh-CN" altLang="en-US"/>
              <a:t>内联，直接使用四次</a:t>
            </a:r>
            <a:r>
              <a:rPr lang="en-US" altLang="zh-CN"/>
              <a:t>for</a:t>
            </a:r>
            <a:r>
              <a:rPr lang="zh-CN" altLang="en-US"/>
              <a:t>循环。</a:t>
            </a:r>
            <a:endParaRPr lang="zh-CN" altLang="en-US"/>
          </a:p>
          <a:p>
            <a:r>
              <a:rPr lang="zh-CN" altLang="en-US"/>
              <a:t>第三次优化是将四次</a:t>
            </a:r>
            <a:r>
              <a:rPr lang="en-US" altLang="zh-CN"/>
              <a:t>for</a:t>
            </a:r>
            <a:r>
              <a:rPr lang="zh-CN" altLang="en-US"/>
              <a:t>循环合并为一个</a:t>
            </a:r>
            <a:r>
              <a:rPr lang="zh-CN" altLang="en-US"/>
              <a:t>循环。</a:t>
            </a:r>
            <a:endParaRPr lang="zh-CN" altLang="en-US"/>
          </a:p>
          <a:p>
            <a:r>
              <a:rPr lang="zh-CN" altLang="en-US">
                <a:latin typeface="+mn-ea"/>
                <a:sym typeface="+mn-ea"/>
              </a:rPr>
              <a:t>这次的优化使性能得到了初步提升。</a:t>
            </a:r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6747510" y="2748915"/>
            <a:ext cx="4697730" cy="26117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" name="文本框 6"/>
          <p:cNvSpPr txBox="1"/>
          <p:nvPr/>
        </p:nvSpPr>
        <p:spPr>
          <a:xfrm>
            <a:off x="818515" y="1104900"/>
            <a:ext cx="10356850" cy="5554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>
              <a:latin typeface="+mn-ea"/>
              <a:ea typeface="+mn-ea"/>
            </a:endParaRPr>
          </a:p>
          <a:p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12" name="文本框 21"/>
          <p:cNvSpPr txBox="1"/>
          <p:nvPr/>
        </p:nvSpPr>
        <p:spPr>
          <a:xfrm>
            <a:off x="81878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第三次优化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使用寄存器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1239520"/>
            <a:ext cx="5345430" cy="39160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89000" y="5477510"/>
            <a:ext cx="4959350" cy="1181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+mn-ea"/>
                <a:sym typeface="+mn-ea"/>
              </a:rPr>
              <a:t>将</a:t>
            </a:r>
            <a:r>
              <a:rPr lang="en-US" altLang="zh-CN">
                <a:latin typeface="+mn-ea"/>
                <a:sym typeface="+mn-ea"/>
              </a:rPr>
              <a:t>C</a:t>
            </a:r>
            <a:r>
              <a:rPr lang="zh-CN" altLang="en-US">
                <a:latin typeface="+mn-ea"/>
                <a:sym typeface="+mn-ea"/>
              </a:rPr>
              <a:t>和</a:t>
            </a:r>
            <a:r>
              <a:rPr lang="en-US" altLang="zh-CN">
                <a:latin typeface="+mn-ea"/>
                <a:sym typeface="+mn-ea"/>
              </a:rPr>
              <a:t>A</a:t>
            </a:r>
            <a:r>
              <a:rPr lang="zh-CN" altLang="en-US">
                <a:latin typeface="+mn-ea"/>
                <a:sym typeface="+mn-ea"/>
              </a:rPr>
              <a:t>矩阵中参与运算的数存储在寄存器当中，这样的好处是每次运算时候</a:t>
            </a:r>
            <a:r>
              <a:rPr lang="en-US" altLang="zh-CN">
                <a:latin typeface="+mn-ea"/>
                <a:sym typeface="+mn-ea"/>
              </a:rPr>
              <a:t>a</a:t>
            </a:r>
            <a:r>
              <a:rPr lang="zh-CN" altLang="en-US">
                <a:latin typeface="+mn-ea"/>
                <a:sym typeface="+mn-ea"/>
              </a:rPr>
              <a:t>数组元素只需要读取一次，</a:t>
            </a:r>
            <a:r>
              <a:rPr lang="en-US" altLang="zh-CN">
                <a:latin typeface="+mn-ea"/>
                <a:sym typeface="+mn-ea"/>
              </a:rPr>
              <a:t>c</a:t>
            </a:r>
            <a:r>
              <a:rPr lang="zh-CN" altLang="en-US">
                <a:latin typeface="+mn-ea"/>
                <a:sym typeface="+mn-ea"/>
              </a:rPr>
              <a:t>数组元素的累加在寄存器中进行，减少对</a:t>
            </a:r>
            <a:r>
              <a:rPr lang="en-US" altLang="zh-CN">
                <a:latin typeface="+mn-ea"/>
                <a:sym typeface="+mn-ea"/>
              </a:rPr>
              <a:t>c</a:t>
            </a:r>
            <a:r>
              <a:rPr lang="zh-CN" altLang="en-US">
                <a:latin typeface="+mn-ea"/>
                <a:sym typeface="+mn-ea"/>
              </a:rPr>
              <a:t>矩阵频繁的写入</a:t>
            </a:r>
            <a:r>
              <a:rPr lang="zh-CN" altLang="en-US">
                <a:latin typeface="+mn-ea"/>
                <a:sym typeface="+mn-ea"/>
              </a:rPr>
              <a:t>缓存。</a:t>
            </a:r>
            <a:endParaRPr lang="zh-CN" altLang="en-US">
              <a:latin typeface="+mn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72250" y="1239520"/>
            <a:ext cx="4229100" cy="1203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+mn-ea"/>
                <a:sym typeface="+mn-ea"/>
              </a:rPr>
              <a:t>这次的优化可以明显的看出来在能装入</a:t>
            </a:r>
            <a:r>
              <a:rPr lang="en-US" altLang="zh-CN">
                <a:latin typeface="+mn-ea"/>
                <a:sym typeface="+mn-ea"/>
              </a:rPr>
              <a:t>L2</a:t>
            </a:r>
            <a:r>
              <a:rPr lang="zh-CN" altLang="en-US">
                <a:latin typeface="+mn-ea"/>
                <a:sym typeface="+mn-ea"/>
              </a:rPr>
              <a:t>缓存大小的矩阵</a:t>
            </a:r>
            <a:r>
              <a:rPr lang="zh-CN" altLang="en-US">
                <a:latin typeface="+mn-ea"/>
                <a:sym typeface="+mn-ea"/>
              </a:rPr>
              <a:t>的性能得到了很大的提升。</a:t>
            </a:r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6390005" y="2372995"/>
            <a:ext cx="4593590" cy="27114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" name="文本框 6"/>
          <p:cNvSpPr txBox="1"/>
          <p:nvPr/>
        </p:nvSpPr>
        <p:spPr>
          <a:xfrm>
            <a:off x="818515" y="1104900"/>
            <a:ext cx="10356850" cy="5554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>
              <a:latin typeface="+mn-ea"/>
              <a:ea typeface="+mn-ea"/>
            </a:endParaRPr>
          </a:p>
          <a:p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12" name="文本框 21"/>
          <p:cNvSpPr txBox="1"/>
          <p:nvPr/>
        </p:nvSpPr>
        <p:spPr>
          <a:xfrm>
            <a:off x="83021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第四次优化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展开为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4x4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918845" y="1322705"/>
            <a:ext cx="7856220" cy="26822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30325" y="4500245"/>
            <a:ext cx="5925185" cy="1381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拆分为</a:t>
            </a:r>
            <a:r>
              <a:rPr lang="en-US" altLang="zh-CN">
                <a:sym typeface="+mn-ea"/>
              </a:rPr>
              <a:t>4x4</a:t>
            </a:r>
            <a:r>
              <a:rPr lang="zh-CN" altLang="en-US">
                <a:sym typeface="+mn-ea"/>
              </a:rPr>
              <a:t>的运算图，原本一次循环运算是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的一行乘上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的四列，现在一次循环运算是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的</a:t>
            </a:r>
            <a:r>
              <a:rPr lang="zh-CN" altLang="en-US">
                <a:sym typeface="+mn-ea"/>
              </a:rPr>
              <a:t>四行乘上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的四列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" name="文本框 21"/>
          <p:cNvSpPr txBox="1"/>
          <p:nvPr/>
        </p:nvSpPr>
        <p:spPr>
          <a:xfrm>
            <a:off x="83021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第四次优化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展开为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4x4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05" y="1133475"/>
            <a:ext cx="3606800" cy="39077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17905" y="5430520"/>
            <a:ext cx="3162935" cy="772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将</a:t>
            </a:r>
            <a:r>
              <a:rPr lang="en-US" altLang="zh-CN"/>
              <a:t>AddDot1x4</a:t>
            </a:r>
            <a:r>
              <a:rPr lang="zh-CN" altLang="en-US"/>
              <a:t>变为</a:t>
            </a:r>
            <a:r>
              <a:rPr lang="en-US" altLang="zh-CN"/>
              <a:t>AddDot4x4</a:t>
            </a:r>
            <a:r>
              <a:rPr lang="zh-CN" altLang="en-US"/>
              <a:t>，一次循环内进行</a:t>
            </a:r>
            <a:r>
              <a:rPr lang="en-US" altLang="zh-CN"/>
              <a:t>16</a:t>
            </a:r>
            <a:r>
              <a:rPr lang="zh-CN" altLang="en-US"/>
              <a:t>次</a:t>
            </a:r>
            <a:r>
              <a:rPr lang="zh-CN" altLang="en-US"/>
              <a:t>运算</a:t>
            </a:r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5306695" y="2064385"/>
            <a:ext cx="5222875" cy="32937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35955" y="987425"/>
            <a:ext cx="4393565" cy="968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此时性能得到了明显的提升，相对于上个版本而言，此时使用了更多的寄存器参与运算过程。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" name="文本框 21"/>
          <p:cNvSpPr txBox="1"/>
          <p:nvPr/>
        </p:nvSpPr>
        <p:spPr>
          <a:xfrm>
            <a:off x="83021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第五次优化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85" y="1177290"/>
            <a:ext cx="3676015" cy="40601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59180" y="553656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使用</a:t>
            </a:r>
            <a:r>
              <a:rPr lang="en-US" altLang="zh-CN"/>
              <a:t>simd</a:t>
            </a:r>
            <a:r>
              <a:rPr lang="zh-CN" altLang="en-US"/>
              <a:t>指令</a:t>
            </a:r>
            <a:r>
              <a:rPr lang="zh-CN" altLang="en-US"/>
              <a:t>集向量化，原本一条指令只能做一次运算，现在一条指令可以做两次</a:t>
            </a:r>
            <a:r>
              <a:rPr lang="zh-CN" altLang="en-US"/>
              <a:t>运算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723890" y="1177290"/>
            <a:ext cx="5053965" cy="638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可以看到此时矩阵较小的</a:t>
            </a:r>
            <a:r>
              <a:rPr lang="zh-CN" altLang="en-US"/>
              <a:t>时候性能得到了明显的</a:t>
            </a:r>
            <a:r>
              <a:rPr lang="zh-CN" altLang="en-US"/>
              <a:t>提升。</a:t>
            </a:r>
            <a:endParaRPr lang="zh-CN" altLang="en-US"/>
          </a:p>
        </p:txBody>
      </p:sp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5365115" y="1823720"/>
            <a:ext cx="5081905" cy="370586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" name="文本框 21"/>
          <p:cNvSpPr txBox="1"/>
          <p:nvPr/>
        </p:nvSpPr>
        <p:spPr>
          <a:xfrm>
            <a:off x="83021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第五次优化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945" y="1389380"/>
            <a:ext cx="10757535" cy="4812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SSE</a:t>
            </a:r>
            <a:r>
              <a:rPr lang="zh-CN" altLang="en-US"/>
              <a:t>、</a:t>
            </a:r>
            <a:r>
              <a:rPr lang="en-US" altLang="zh-CN"/>
              <a:t>AVX256</a:t>
            </a:r>
            <a:r>
              <a:rPr lang="zh-CN" altLang="en-US"/>
              <a:t>（通常简称</a:t>
            </a:r>
            <a:r>
              <a:rPr lang="en-US" altLang="zh-CN"/>
              <a:t> AVX2</a:t>
            </a:r>
            <a:r>
              <a:rPr lang="zh-CN" altLang="en-US"/>
              <a:t>）、</a:t>
            </a:r>
            <a:r>
              <a:rPr lang="en-US" altLang="zh-CN"/>
              <a:t>AVX512 </a:t>
            </a:r>
            <a:r>
              <a:rPr lang="zh-CN" altLang="en-US"/>
              <a:t>是</a:t>
            </a:r>
            <a:r>
              <a:rPr lang="en-US" altLang="zh-CN"/>
              <a:t> Intel </a:t>
            </a:r>
            <a:r>
              <a:rPr lang="zh-CN" altLang="en-US"/>
              <a:t>和</a:t>
            </a:r>
            <a:r>
              <a:rPr lang="en-US" altLang="zh-CN"/>
              <a:t> AMD </a:t>
            </a:r>
            <a:r>
              <a:rPr lang="zh-CN" altLang="en-US"/>
              <a:t>处理器中用于单指令多数据（</a:t>
            </a:r>
            <a:r>
              <a:rPr lang="en-US" altLang="zh-CN"/>
              <a:t>SIMD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运算的指令集扩展，主要用于提升并行计算性能（如浮点运算、多媒体处理、科学计算等）。它们的核心目标是通过一条指令同时处理多个数据，减少运算次数，提高效率。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1675765" y="2755265"/>
          <a:ext cx="853376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特性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SSE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系列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AVX2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256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AVX512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512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</a:tr>
              <a:tr h="381000"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推出时间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1999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年（后续持续扩展）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2013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2015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</a:tr>
              <a:tr h="381000"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寄存器宽度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128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XMM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256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YMM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512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ZMM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</a:tr>
              <a:tr h="381000"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寄存器数量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最多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XMM0~15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YMM0~15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ZMM0~31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</a:tr>
              <a:tr h="381000"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单指令数据量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4×float / 2×double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8×float / 4×double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16×float / 8×double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</a:tr>
              <a:tr h="381000"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核心优势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兼容性强，基础并行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平衡性能与功耗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超大并行度，灵活掩码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</a:tr>
              <a:tr h="381000"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典型应用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多媒体、基础计算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图像识别、中端科学计算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4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HPC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、深度学习、大规模数据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617" marR="114617" marT="76517" marB="76517" anchor="ctr" anchorCtr="0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" name="文本框 21"/>
          <p:cNvSpPr txBox="1"/>
          <p:nvPr/>
        </p:nvSpPr>
        <p:spPr>
          <a:xfrm>
            <a:off x="83021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第六次优化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分块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05" y="1244600"/>
            <a:ext cx="5428615" cy="38989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0705" y="5379720"/>
            <a:ext cx="51593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将原本的大矩阵进行分块为小矩阵，提高数据局部性，减小内存访问，如果不进行分块，当矩阵过大时不能全部加载进缓存，导致频繁的从内存</a:t>
            </a:r>
            <a:r>
              <a:rPr lang="zh-CN" altLang="en-US"/>
              <a:t>读写。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525260" y="989330"/>
            <a:ext cx="4699635" cy="1098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可以看到此时的性能优化图，当矩阵比较大的时候性能优化</a:t>
            </a:r>
            <a:r>
              <a:rPr lang="zh-CN" altLang="en-US"/>
              <a:t>很明显。</a:t>
            </a:r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6637020" y="2087880"/>
            <a:ext cx="4438650" cy="343471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" name="文本框 21"/>
          <p:cNvSpPr txBox="1"/>
          <p:nvPr/>
        </p:nvSpPr>
        <p:spPr>
          <a:xfrm>
            <a:off x="83021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七次优化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打包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重排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470" y="1249045"/>
            <a:ext cx="4514850" cy="2552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55" y="1249045"/>
            <a:ext cx="5480050" cy="41783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29945" y="557149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在第一次需要用到</a:t>
            </a:r>
            <a:r>
              <a:rPr lang="en-US" altLang="zh-CN"/>
              <a:t>A</a:t>
            </a:r>
            <a:r>
              <a:rPr lang="zh-CN" altLang="en-US"/>
              <a:t>的块和第一次要用到</a:t>
            </a:r>
            <a:r>
              <a:rPr lang="en-US" altLang="zh-CN"/>
              <a:t>B</a:t>
            </a:r>
            <a:r>
              <a:rPr lang="zh-CN" altLang="en-US"/>
              <a:t>的块的时候进行打包，</a:t>
            </a:r>
            <a:r>
              <a:rPr lang="zh-CN" altLang="en-US"/>
              <a:t>避免重复打包。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525895" y="4123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打包</a:t>
            </a:r>
            <a:r>
              <a:rPr lang="en-US" altLang="zh-CN"/>
              <a:t>A</a:t>
            </a:r>
            <a:r>
              <a:rPr lang="zh-CN" altLang="en-US"/>
              <a:t>的块进行</a:t>
            </a:r>
            <a:r>
              <a:rPr lang="zh-CN" altLang="en-US"/>
              <a:t>重排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" name="文本框 21"/>
          <p:cNvSpPr txBox="1"/>
          <p:nvPr/>
        </p:nvSpPr>
        <p:spPr>
          <a:xfrm>
            <a:off x="83021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七次优化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打包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重排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15" y="1630045"/>
            <a:ext cx="4508500" cy="21145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29945" y="41433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打包</a:t>
            </a:r>
            <a:r>
              <a:rPr lang="en-US" altLang="zh-CN"/>
              <a:t>B</a:t>
            </a:r>
            <a:r>
              <a:rPr lang="zh-CN" altLang="en-US"/>
              <a:t>的块进行</a:t>
            </a:r>
            <a:r>
              <a:rPr lang="zh-CN" altLang="en-US"/>
              <a:t>重排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134100" y="1359535"/>
            <a:ext cx="4840605" cy="1076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由于进行分块后导致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的访问不连续，将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进行重排让他变得连续，但是性能只得到了很小</a:t>
            </a:r>
            <a:r>
              <a:rPr lang="zh-CN" altLang="en-US"/>
              <a:t>的提升。</a:t>
            </a:r>
            <a:endParaRPr lang="zh-CN" altLang="en-US"/>
          </a:p>
        </p:txBody>
      </p: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5899150" y="2588895"/>
            <a:ext cx="5005070" cy="31527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" name="文本框 21"/>
          <p:cNvSpPr txBox="1"/>
          <p:nvPr/>
        </p:nvSpPr>
        <p:spPr>
          <a:xfrm>
            <a:off x="83021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第八次次优化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AVX2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0" y="1311910"/>
            <a:ext cx="4455795" cy="36347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76630" y="5153660"/>
            <a:ext cx="4628515" cy="1039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使用</a:t>
            </a:r>
            <a:r>
              <a:rPr lang="en-US" altLang="zh-CN"/>
              <a:t>AVX2</a:t>
            </a:r>
            <a:r>
              <a:rPr lang="zh-CN" altLang="en-US"/>
              <a:t>指令，对比</a:t>
            </a:r>
            <a:r>
              <a:rPr lang="en-US" altLang="zh-CN"/>
              <a:t>SSE</a:t>
            </a:r>
            <a:r>
              <a:rPr lang="zh-CN" altLang="en-US"/>
              <a:t>单条指令进行两次运算变为单</a:t>
            </a:r>
            <a:r>
              <a:rPr lang="zh-CN" altLang="en-US"/>
              <a:t>条指令进行四次</a:t>
            </a:r>
            <a:r>
              <a:rPr lang="zh-CN" altLang="en-US"/>
              <a:t>运算。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195060" y="1104900"/>
            <a:ext cx="3933825" cy="827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可以看到性能得到了</a:t>
            </a:r>
            <a:r>
              <a:rPr lang="zh-CN" altLang="en-US"/>
              <a:t>提升。</a:t>
            </a:r>
            <a:endParaRPr lang="zh-CN" altLang="en-US"/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6195060" y="2018665"/>
            <a:ext cx="4450715" cy="32702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" name="文本框 21"/>
          <p:cNvSpPr txBox="1"/>
          <p:nvPr/>
        </p:nvSpPr>
        <p:spPr>
          <a:xfrm>
            <a:off x="83021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第八次次优化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AVX512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" y="1243330"/>
            <a:ext cx="5180965" cy="39490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17575" y="55486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AVX512</a:t>
            </a:r>
            <a:r>
              <a:rPr lang="zh-CN" altLang="en-US">
                <a:sym typeface="+mn-ea"/>
              </a:rPr>
              <a:t>指令，单条指令进行</a:t>
            </a:r>
            <a:r>
              <a:rPr lang="zh-CN" altLang="en-US">
                <a:sym typeface="+mn-ea"/>
              </a:rPr>
              <a:t>八次运算。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13805" y="1104900"/>
            <a:ext cx="4923155" cy="153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由于</a:t>
            </a:r>
            <a:r>
              <a:rPr lang="en-US" altLang="zh-CN"/>
              <a:t>AVX512</a:t>
            </a:r>
            <a:r>
              <a:rPr lang="zh-CN" altLang="en-US"/>
              <a:t>的寄存器并不是</a:t>
            </a:r>
            <a:r>
              <a:rPr lang="en-US" altLang="zh-CN"/>
              <a:t>16</a:t>
            </a:r>
            <a:r>
              <a:rPr lang="zh-CN" altLang="en-US"/>
              <a:t>个，而是</a:t>
            </a:r>
            <a:r>
              <a:rPr lang="en-US" altLang="zh-CN"/>
              <a:t>32</a:t>
            </a:r>
            <a:r>
              <a:rPr lang="zh-CN" altLang="en-US"/>
              <a:t>个，所以原本拆分的</a:t>
            </a:r>
            <a:r>
              <a:rPr lang="en-US" altLang="zh-CN"/>
              <a:t>4x4</a:t>
            </a:r>
            <a:r>
              <a:rPr lang="zh-CN" altLang="en-US"/>
              <a:t>并不能合理的使用所有向量寄存器，可以对继续拆分，经过调整改为</a:t>
            </a:r>
            <a:r>
              <a:rPr lang="en-US" altLang="zh-CN"/>
              <a:t>4x32</a:t>
            </a:r>
            <a:r>
              <a:rPr lang="zh-CN" altLang="en-US"/>
              <a:t>，此时使用了</a:t>
            </a:r>
            <a:r>
              <a:rPr lang="en-US" altLang="zh-CN"/>
              <a:t>24</a:t>
            </a:r>
            <a:r>
              <a:rPr lang="zh-CN" altLang="en-US"/>
              <a:t>个向量寄存器，实际上还是可以继续增加为</a:t>
            </a:r>
            <a:r>
              <a:rPr lang="en-US" altLang="zh-CN"/>
              <a:t>4x40</a:t>
            </a:r>
            <a:r>
              <a:rPr lang="zh-CN" altLang="en-US"/>
              <a:t>，不过性能提升并不明显</a:t>
            </a:r>
            <a:r>
              <a:rPr lang="zh-CN" altLang="en-US"/>
              <a:t>了。</a:t>
            </a:r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6514465" y="2639060"/>
            <a:ext cx="4521835" cy="29845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" name="文本框 21"/>
          <p:cNvSpPr txBox="1"/>
          <p:nvPr/>
        </p:nvSpPr>
        <p:spPr>
          <a:xfrm>
            <a:off x="830211" y="57399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717550" y="1234440"/>
            <a:ext cx="5852160" cy="43891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849745" y="1955800"/>
            <a:ext cx="3840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这是最终优化版本与初始版本的性能对比图，可以看到性能提升</a:t>
            </a:r>
            <a:r>
              <a:rPr lang="zh-CN" altLang="en-US"/>
              <a:t>很明显。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9" name="文本框 6"/>
          <p:cNvSpPr txBox="1"/>
          <p:nvPr/>
        </p:nvSpPr>
        <p:spPr>
          <a:xfrm>
            <a:off x="10810875" y="245745"/>
            <a:ext cx="1252551" cy="3073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BFBFBF"/>
                </a:solidFill>
                <a:latin typeface="DIN-Medium"/>
                <a:ea typeface="DIN-Medium"/>
                <a:cs typeface="DIN-Medium"/>
                <a:sym typeface="DIN-Medium"/>
              </a:defRPr>
            </a:lvl1pPr>
          </a:lstStyle>
          <a:p>
            <a:r>
              <a:t>yuansuan.com</a:t>
            </a:r>
          </a:p>
        </p:txBody>
      </p:sp>
      <p:sp>
        <p:nvSpPr>
          <p:cNvPr id="360" name="文本框 8"/>
          <p:cNvSpPr txBox="1"/>
          <p:nvPr/>
        </p:nvSpPr>
        <p:spPr>
          <a:xfrm>
            <a:off x="9462728" y="62276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A7A7A7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361" name="图片 12" descr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515" y="578865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2" name="文本框 14"/>
          <p:cNvSpPr txBox="1"/>
          <p:nvPr/>
        </p:nvSpPr>
        <p:spPr>
          <a:xfrm>
            <a:off x="649604" y="2481262"/>
            <a:ext cx="6680753" cy="980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6000" spc="560">
                <a:solidFill>
                  <a:srgbClr val="FFFFFF"/>
                </a:solidFill>
                <a:latin typeface="DIN Alternate Bold" panose="020B0500000000000000"/>
                <a:ea typeface="DIN Alternate Bold" panose="020B0500000000000000"/>
                <a:cs typeface="DIN Alternate Bold" panose="020B0500000000000000"/>
                <a:sym typeface="DIN Alternate Bold" panose="020B0500000000000000"/>
              </a:defRPr>
            </a:lvl1pPr>
          </a:lstStyle>
          <a:p>
            <a:r>
              <a:t>THANKS</a:t>
            </a:r>
          </a:p>
        </p:txBody>
      </p:sp>
      <p:pic>
        <p:nvPicPr>
          <p:cNvPr id="363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" y="367972"/>
            <a:ext cx="1198881" cy="4788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456181"/>
            <a:ext cx="1252551" cy="94118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2596</Words>
  <Application>WPS 演示</Application>
  <PresentationFormat>宽屏</PresentationFormat>
  <Paragraphs>208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PingFang SC Semibold</vt:lpstr>
      <vt:lpstr>Times New Roman</vt:lpstr>
      <vt:lpstr>PingFang SC Regular</vt:lpstr>
      <vt:lpstr>DIN-Medium</vt:lpstr>
      <vt:lpstr>Segoe Print</vt:lpstr>
      <vt:lpstr>PingFang SC Medium</vt:lpstr>
      <vt:lpstr>Calibri</vt:lpstr>
      <vt:lpstr>Cambria Math</vt:lpstr>
      <vt:lpstr>MS Mincho</vt:lpstr>
      <vt:lpstr>Inter</vt:lpstr>
      <vt:lpstr>仿宋</vt:lpstr>
      <vt:lpstr>DIN Alternate Bold</vt:lpstr>
      <vt:lpstr>Segoe UI Symbol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何明成</cp:lastModifiedBy>
  <cp:revision>157</cp:revision>
  <dcterms:created xsi:type="dcterms:W3CDTF">2019-06-19T02:08:00Z</dcterms:created>
  <dcterms:modified xsi:type="dcterms:W3CDTF">2025-07-18T06:57:47Z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93209E8D5A804CBD932FE41A40EDC0E7_11</vt:lpwstr>
  </property>
</Properties>
</file>