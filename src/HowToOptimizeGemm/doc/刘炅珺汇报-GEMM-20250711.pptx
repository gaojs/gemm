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309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23" r:id="rId12"/>
    <p:sldId id="319" r:id="rId13"/>
    <p:sldId id="320" r:id="rId14"/>
    <p:sldId id="322" r:id="rId15"/>
    <p:sldId id="270" r:id="rId16"/>
  </p:sldIdLst>
  <p:sldSz cx="12192000" cy="6858000"/>
  <p:notesSz cx="6858000" cy="9144000"/>
  <p:custDataLst>
    <p:tags r:id="rId2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05"/>
    <p:restoredTop sz="94719"/>
  </p:normalViewPr>
  <p:slideViewPr>
    <p:cSldViewPr snapToGrid="0">
      <p:cViewPr varScale="1">
        <p:scale>
          <a:sx n="152" d="100"/>
          <a:sy n="152" d="100"/>
        </p:scale>
        <p:origin x="1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宋体" panose="02010600030101010101" pitchFamily="2" charset="-122"/>
      </a:defRPr>
    </a:lvl1pPr>
    <a:lvl2pPr indent="228600" latinLnBrk="0">
      <a:defRPr sz="1200">
        <a:latin typeface="+mj-lt"/>
        <a:ea typeface="+mj-ea"/>
        <a:cs typeface="+mj-cs"/>
        <a:sym typeface="宋体" panose="02010600030101010101" pitchFamily="2" charset="-122"/>
      </a:defRPr>
    </a:lvl2pPr>
    <a:lvl3pPr indent="457200" latinLnBrk="0">
      <a:defRPr sz="1200">
        <a:latin typeface="+mj-lt"/>
        <a:ea typeface="+mj-ea"/>
        <a:cs typeface="+mj-cs"/>
        <a:sym typeface="宋体" panose="02010600030101010101" pitchFamily="2" charset="-122"/>
      </a:defRPr>
    </a:lvl3pPr>
    <a:lvl4pPr indent="685800" latinLnBrk="0">
      <a:defRPr sz="1200">
        <a:latin typeface="+mj-lt"/>
        <a:ea typeface="+mj-ea"/>
        <a:cs typeface="+mj-cs"/>
        <a:sym typeface="宋体" panose="02010600030101010101" pitchFamily="2" charset="-122"/>
      </a:defRPr>
    </a:lvl4pPr>
    <a:lvl5pPr indent="914400" latinLnBrk="0">
      <a:defRPr sz="1200">
        <a:latin typeface="+mj-lt"/>
        <a:ea typeface="+mj-ea"/>
        <a:cs typeface="+mj-cs"/>
        <a:sym typeface="宋体" panose="02010600030101010101" pitchFamily="2" charset="-122"/>
      </a:defRPr>
    </a:lvl5pPr>
    <a:lvl6pPr indent="1143000" latinLnBrk="0">
      <a:defRPr sz="1200">
        <a:latin typeface="+mj-lt"/>
        <a:ea typeface="+mj-ea"/>
        <a:cs typeface="+mj-cs"/>
        <a:sym typeface="宋体" panose="02010600030101010101" pitchFamily="2" charset="-122"/>
      </a:defRPr>
    </a:lvl6pPr>
    <a:lvl7pPr indent="1371600" latinLnBrk="0">
      <a:defRPr sz="1200">
        <a:latin typeface="+mj-lt"/>
        <a:ea typeface="+mj-ea"/>
        <a:cs typeface="+mj-cs"/>
        <a:sym typeface="宋体" panose="02010600030101010101" pitchFamily="2" charset="-122"/>
      </a:defRPr>
    </a:lvl7pPr>
    <a:lvl8pPr indent="1600200" latinLnBrk="0">
      <a:defRPr sz="1200">
        <a:latin typeface="+mj-lt"/>
        <a:ea typeface="+mj-ea"/>
        <a:cs typeface="+mj-cs"/>
        <a:sym typeface="宋体" panose="02010600030101010101" pitchFamily="2" charset="-122"/>
      </a:defRPr>
    </a:lvl8pPr>
    <a:lvl9pPr indent="1828800" latinLnBrk="0">
      <a:defRPr sz="1200">
        <a:latin typeface="+mj-lt"/>
        <a:ea typeface="+mj-ea"/>
        <a:cs typeface="+mj-cs"/>
        <a:sym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单击此处添加标题"/>
          <p:cNvSpPr txBox="1">
            <a:spLocks noGrp="1"/>
          </p:cNvSpPr>
          <p:nvPr>
            <p:ph type="title" hasCustomPrompt="1"/>
          </p:nvPr>
        </p:nvSpPr>
        <p:spPr>
          <a:xfrm>
            <a:off x="1524000" y="1322961"/>
            <a:ext cx="9144000" cy="2187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30000"/>
              </a:lnSpc>
              <a:defRPr sz="6000"/>
            </a:lvl1pPr>
          </a:lstStyle>
          <a:p>
            <a:r>
              <a:t>单击此处添加标题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1pPr>
            <a:lvl2pPr marL="0" indent="4572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2pPr>
            <a:lvl3pPr marL="0" indent="9144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3pPr>
            <a:lvl4pPr marL="0" indent="13716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4pPr>
            <a:lvl5pPr marL="0" indent="18288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单击此处添加副标题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1849" y="469126"/>
            <a:ext cx="10307927" cy="409334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610027"/>
            <a:ext cx="10307926" cy="6475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00000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00000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00000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00000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744960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>
                <a:solidFill>
                  <a:srgbClr val="000000"/>
                </a:solidFill>
              </a:defRPr>
            </a:lvl1pPr>
            <a:lvl2pPr marL="0" indent="457200">
              <a:buSzTx/>
              <a:buFontTx/>
              <a:buNone/>
              <a:defRPr>
                <a:solidFill>
                  <a:srgbClr val="000000"/>
                </a:solidFill>
              </a:defRPr>
            </a:lvl2pPr>
            <a:lvl3pPr marL="0" indent="914400">
              <a:buSzTx/>
              <a:buFontTx/>
              <a:buNone/>
              <a:defRPr>
                <a:solidFill>
                  <a:srgbClr val="000000"/>
                </a:solidFill>
              </a:defRPr>
            </a:lvl3pPr>
            <a:lvl4pPr marL="0" indent="1371600">
              <a:buSzTx/>
              <a:buFontTx/>
              <a:buNone/>
              <a:defRPr>
                <a:solidFill>
                  <a:srgbClr val="000000"/>
                </a:solidFill>
              </a:defRPr>
            </a:lvl4pPr>
            <a:lvl5pPr marL="0" indent="1828800">
              <a:buSzTx/>
              <a:buFontTx/>
              <a:buNone/>
              <a:defRPr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2200" y="1744960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1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单击此处编辑标题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999" y="766353"/>
            <a:ext cx="5817376" cy="509444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51826" y="2057400"/>
            <a:ext cx="4165202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1pPr>
            <a:lvl2pPr marL="0" indent="4572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2pPr>
            <a:lvl3pPr marL="0" indent="9144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3pPr>
            <a:lvl4pPr marL="0" indent="13716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4pPr>
            <a:lvl5pPr marL="0" indent="18288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551542"/>
            <a:ext cx="10515600" cy="55589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文本框 14"/>
          <p:cNvSpPr txBox="1"/>
          <p:nvPr/>
        </p:nvSpPr>
        <p:spPr>
          <a:xfrm>
            <a:off x="548004" y="2125662"/>
            <a:ext cx="9451673" cy="82994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4800" spc="448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dirty="0"/>
              <a:t>how-to-optimize-gemm</a:t>
            </a:r>
            <a:endParaRPr lang="en-US" altLang="zh-CN" dirty="0"/>
          </a:p>
        </p:txBody>
      </p:sp>
      <p:sp>
        <p:nvSpPr>
          <p:cNvPr id="94" name="文本框 16"/>
          <p:cNvSpPr txBox="1"/>
          <p:nvPr/>
        </p:nvSpPr>
        <p:spPr>
          <a:xfrm>
            <a:off x="623252" y="3418205"/>
            <a:ext cx="3735706" cy="6451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pc="99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lvl1pPr>
          </a:lstStyle>
          <a:p>
            <a:pPr algn="l"/>
            <a:r>
              <a:rPr lang="zh-CN" dirty="0"/>
              <a:t>汇报人：刘炅珺</a:t>
            </a:r>
            <a:endParaRPr lang="zh-CN" altLang="en-US" dirty="0"/>
          </a:p>
          <a:p>
            <a:pPr algn="l"/>
            <a:r>
              <a:rPr lang="zh-CN" altLang="en-US" dirty="0"/>
              <a:t>时间：</a:t>
            </a:r>
            <a:r>
              <a:rPr lang="en-US" altLang="zh-CN" dirty="0"/>
              <a:t>2025.7.11</a:t>
            </a:r>
            <a:endParaRPr lang="zh-CN" altLang="en-US" dirty="0"/>
          </a:p>
        </p:txBody>
      </p:sp>
      <p:sp>
        <p:nvSpPr>
          <p:cNvPr id="95" name="文本框 6"/>
          <p:cNvSpPr txBox="1"/>
          <p:nvPr/>
        </p:nvSpPr>
        <p:spPr>
          <a:xfrm>
            <a:off x="10645774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pic>
        <p:nvPicPr>
          <p:cNvPr id="96" name="图片 12" descr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r>
              <a:t>跨界融合 · </a:t>
            </a:r>
            <a:r>
              <a:rPr lang="zh-CN"/>
              <a:t>创造价值</a:t>
            </a:r>
            <a:r>
              <a:t> · </a:t>
            </a:r>
            <a:r>
              <a:rPr lang="zh-CN"/>
              <a:t>成就客户</a:t>
            </a:r>
            <a:r>
              <a:t> · </a:t>
            </a:r>
            <a:r>
              <a:rPr lang="zh-CN"/>
              <a:t>定义专业</a:t>
            </a:r>
            <a:endParaRPr lang="zh-CN"/>
          </a:p>
        </p:txBody>
      </p:sp>
      <p:sp>
        <p:nvSpPr>
          <p:cNvPr id="98" name="线条"/>
          <p:cNvSpPr/>
          <p:nvPr/>
        </p:nvSpPr>
        <p:spPr>
          <a:xfrm>
            <a:off x="635000" y="3247707"/>
            <a:ext cx="4446270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0" tIns="0" rIns="0" bIns="0"/>
          <a:lstStyle/>
          <a:p/>
        </p:txBody>
      </p:sp>
      <p:pic>
        <p:nvPicPr>
          <p:cNvPr id="10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1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477645"/>
            <a:ext cx="5631180" cy="16840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90295" y="3429000"/>
            <a:ext cx="43865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横坐标代表生成矩阵的大小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纵坐标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GFLDPS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即每秒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亿次的浮点运算数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的行数为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，列数为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的行数为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，列数为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结果矩阵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的行数为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，列数为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我们可以看出随着生成矩阵的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变大，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在大概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1200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左右的时候会开始明显的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下降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2500" y="353060"/>
            <a:ext cx="3576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MMult0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最初的朴素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 descr="物理机器_compare_MMult0_MMult0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940" y="1017270"/>
            <a:ext cx="4276725" cy="32080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45" y="1439545"/>
            <a:ext cx="4533900" cy="4191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65835" y="45212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 MMult2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第一次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3800" y="423545"/>
            <a:ext cx="43865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把核心计算的代码封装为一个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AddDot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函数，然后在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AddDot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函数中进行循环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开始进行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循环展开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，把最外层的循坏展开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然后为每次跳四列，之前是每一列都需要一次循环，现在可以每四列只用一次循环控制，减少循环操作数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可以看出性能基本上没有什么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 descr="物理机器_compare_MMult0_MMult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315" y="3295015"/>
            <a:ext cx="4203065" cy="31521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" y="1267460"/>
            <a:ext cx="6438900" cy="19583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04570" y="3874770"/>
            <a:ext cx="43865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MMult1*4_3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先把四次调用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AddDot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的指令再次封装成一个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AddDot1*4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然后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MMult1*4_4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AddDot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函数取消掉，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MMult1*4_5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再将原先的四次循环计算改成了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在同一个循环中计算四次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00265" y="5117465"/>
            <a:ext cx="4302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跟</a:t>
            </a:r>
            <a:r>
              <a:rPr lang="en-US" altLang="zh-CN"/>
              <a:t>MMult2</a:t>
            </a:r>
            <a:r>
              <a:rPr lang="zh-CN" altLang="en-US"/>
              <a:t>相比，性能提升有略微的</a:t>
            </a:r>
            <a:r>
              <a:rPr lang="zh-CN" altLang="en-US"/>
              <a:t>提升，特别是当矩阵过大的时候，性能提升</a:t>
            </a:r>
            <a:r>
              <a:rPr lang="zh-CN" altLang="en-US"/>
              <a:t>明显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8815" y="554355"/>
            <a:ext cx="6029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MMult1*4_3 MMult1*4_4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MMult1*4_5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物理机器_compare_MMult2_MMult_1x4_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520" y="1267460"/>
            <a:ext cx="3935730" cy="29521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" y="1837690"/>
            <a:ext cx="5937885" cy="31832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41465" y="1411605"/>
            <a:ext cx="45688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MMult_1x4_6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register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关键词来定义变量，让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矩阵的值赋值给变量，强制把变量放入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register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当中，这样子在单次的循环中查找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矩阵的变量只需要在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register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中去找，减少了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register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之间的流量性能提升大幅度提高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MMult_1x4_7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通过指针获取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矩阵的四列元素的起始位置，在每一次的循环中只需要通过指针遍历列元素，跟原先的每次都要计算地址相比，要省去了地址计算的时间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66484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MMult1*4_6 MMult1*4_7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MMult1*4_8 MMult1*4_9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0" y="1199515"/>
            <a:ext cx="2941955" cy="49803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584065" y="1199515"/>
            <a:ext cx="63480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MMult_1x4_8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把函数内的循环进行展开，每次循环处理四次数据，减少循环操作数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MMult_1x4_9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原先是在指针每次都自增来获取元素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现在改成了每四次进行一次指针增加的操作，通过指针偏移来获取这四个元素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55435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MMult1*4_6 MMult1*4_7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MMult1*4_8 MMult1*4_9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84065" y="4108450"/>
            <a:ext cx="1743075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可以看出性能提升还是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挺明显的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图片 3" descr="物理机器_compare_MMult_1x4_5_MMult_1x4_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925" y="3322320"/>
            <a:ext cx="3935730" cy="29521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MMult4*4_3 MMult4*4_4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MMult4*4_5 MMult4*4_6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MMult4*4_6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MMult4*4_7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这几步的优化是重新从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开始优化的，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基本上重复了之前几次优化的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1920" y="3686810"/>
            <a:ext cx="40360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MMult_4x4_3</a:t>
            </a:r>
            <a:endParaRPr lang="en-US" altLang="zh-CN"/>
          </a:p>
          <a:p>
            <a:r>
              <a:rPr lang="zh-CN" altLang="en-US"/>
              <a:t>在原先循环展开的</a:t>
            </a:r>
            <a:r>
              <a:rPr lang="en-US" altLang="zh-CN"/>
              <a:t>1*4</a:t>
            </a:r>
            <a:r>
              <a:rPr lang="zh-CN" altLang="en-US"/>
              <a:t>的基础上改成了</a:t>
            </a:r>
            <a:r>
              <a:rPr lang="en-US" altLang="zh-CN"/>
              <a:t>4*4</a:t>
            </a:r>
            <a:r>
              <a:rPr lang="zh-CN" altLang="en-US"/>
              <a:t>的</a:t>
            </a:r>
            <a:r>
              <a:rPr lang="zh-CN" altLang="en-US"/>
              <a:t>循环展开，每次循环调用</a:t>
            </a:r>
            <a:r>
              <a:rPr lang="en-US" altLang="zh-CN"/>
              <a:t>4*4</a:t>
            </a:r>
            <a:r>
              <a:rPr lang="zh-CN" altLang="en-US"/>
              <a:t>即</a:t>
            </a:r>
            <a:r>
              <a:rPr lang="en-US" altLang="zh-CN"/>
              <a:t>16</a:t>
            </a:r>
            <a:r>
              <a:rPr lang="zh-CN" altLang="en-US"/>
              <a:t>次</a:t>
            </a:r>
            <a:r>
              <a:rPr lang="en-US" altLang="zh-CN"/>
              <a:t>AddDot</a:t>
            </a:r>
            <a:r>
              <a:rPr lang="zh-CN" altLang="en-US"/>
              <a:t>函数</a:t>
            </a:r>
            <a:endParaRPr lang="zh-CN" altLang="en-US"/>
          </a:p>
          <a:p>
            <a:r>
              <a:rPr lang="en-US" altLang="zh-CN"/>
              <a:t>MMult_4x4_4</a:t>
            </a:r>
            <a:endParaRPr lang="en-US" altLang="zh-CN"/>
          </a:p>
          <a:p>
            <a:r>
              <a:rPr lang="zh-CN" altLang="en-US"/>
              <a:t>把</a:t>
            </a:r>
            <a:r>
              <a:rPr lang="en-US" altLang="zh-CN"/>
              <a:t>AddDot</a:t>
            </a:r>
            <a:r>
              <a:rPr lang="zh-CN" altLang="en-US"/>
              <a:t>函数取消掉，在</a:t>
            </a:r>
            <a:r>
              <a:rPr lang="en-US" altLang="zh-CN"/>
              <a:t>AddDot4*4</a:t>
            </a:r>
            <a:r>
              <a:rPr lang="zh-CN" altLang="en-US"/>
              <a:t>函数中直接执行</a:t>
            </a:r>
            <a:r>
              <a:rPr lang="en-US" altLang="zh-CN"/>
              <a:t>16</a:t>
            </a:r>
            <a:r>
              <a:rPr lang="zh-CN" altLang="en-US"/>
              <a:t>次循环计算</a:t>
            </a:r>
            <a:endParaRPr lang="zh-CN" altLang="en-US"/>
          </a:p>
          <a:p>
            <a:r>
              <a:rPr lang="en-US" altLang="zh-CN"/>
              <a:t>MMult_4x4_5</a:t>
            </a:r>
            <a:endParaRPr lang="en-US" altLang="zh-CN"/>
          </a:p>
          <a:p>
            <a:r>
              <a:rPr lang="zh-CN" altLang="en-US"/>
              <a:t>原来的</a:t>
            </a:r>
            <a:r>
              <a:rPr lang="en-US" altLang="zh-CN"/>
              <a:t>16</a:t>
            </a:r>
            <a:r>
              <a:rPr lang="zh-CN" altLang="en-US"/>
              <a:t>个循环计算放在了同一个循环中计算</a:t>
            </a:r>
            <a:r>
              <a:rPr lang="en-US" altLang="zh-CN"/>
              <a:t>16</a:t>
            </a:r>
            <a:r>
              <a:rPr lang="zh-CN" altLang="en-US"/>
              <a:t>次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" y="2002790"/>
            <a:ext cx="5402580" cy="1249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190" y="586105"/>
            <a:ext cx="3307080" cy="56159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MMult4*4_3 MMult4*4_4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MMult4*4_5 MMult4*4_6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MMult4*4_6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MMult4*4_7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702435"/>
            <a:ext cx="5562600" cy="3139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20180" y="277495"/>
            <a:ext cx="4538345" cy="24930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MMult_4x4_6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用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关键词来定义变量，让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矩阵的值赋值给变量，强制把变量放入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当中，这样子在单次的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循环中查找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矩阵的变量只需要在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中去找，减少了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之间的流量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MMult_4x4_7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通过指针获取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矩阵的四列元素的起始位置，在每一次的循环中只需要通过指针遍历列元素，跟原先的每次都要计算地址相比，要省去了地址计算的时间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1905" y="5396230"/>
            <a:ext cx="4227195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最后跟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1*4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的最终版本比较，性能上并没有过多的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区别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" name="图片 9" descr="物理机器_compare_MMult_1x4_9_MMult_4x4_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55" y="2896235"/>
            <a:ext cx="4987925" cy="37407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MMult4*4_8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MMult4*4_9 MMult4*4_10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第五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次优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" y="1619885"/>
            <a:ext cx="3962400" cy="1447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0915" y="4769485"/>
            <a:ext cx="10052050" cy="42513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MMult_4x4_8 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矩阵也赋值变量放入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中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MMult_4x4_9 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现在将其进行了向量化，把原先四列的计算改编成了按照第一行和第二行分别跟列交叉计算，适配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SIMD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的并行逻辑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MMult_4x4_10 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引入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SSE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指令集，用向量寄存器代替标量寄存器原先是有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16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个标量寄存器，现在变成了只有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个向量寄存器，但是每一个向量寄存器都包含了两个标量数据，这样在后续计算中只需要一次指令就可以完成两次并行的计算，后面只需要在通过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v2df_t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d[0]/d[1]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字段来将存储在向量寄存器中的结果以标量形式返回并加入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矩阵即可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85" y="1818005"/>
            <a:ext cx="1310640" cy="10515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0" y="3356610"/>
            <a:ext cx="5806440" cy="12496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40" y="813435"/>
            <a:ext cx="4419600" cy="31699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MMult4*4_8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MMult4*4_9 MMult4*4_10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第五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次优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77075" y="1950720"/>
            <a:ext cx="3587750" cy="42513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可以看出在矩阵较小的时候，性能具有明显的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提升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图片 3" descr="物理机器_compare_MMult_4x4_7_MMult_4x4_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199515"/>
            <a:ext cx="5852160" cy="43891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MMult4*4_11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066800"/>
            <a:ext cx="1417320" cy="6934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" y="1904365"/>
            <a:ext cx="5882640" cy="13411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5910" y="352425"/>
            <a:ext cx="4084320" cy="15176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原先的代码在生成矩阵过大时，无法将其缓存到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L2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当中，所以可以把过大的矩阵进行分块，我们先对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矩阵进行分块，横着切使高度最高不过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256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，竖着切使宽度最宽不过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128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，对于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矩阵则是横着切使最高不过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128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在进行了分块之后，再将之前的双层循环计算重新封装到一个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InnerKernel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函数里面，在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InnerKernel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函数中分块的进行之前的操作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最后可以看出在矩阵过大的情况下，性能有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非常明显的提升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图片 5" descr="物理机器_compare_MMult_4x4_10_MMult_4x4_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10" y="3314700"/>
            <a:ext cx="4218940" cy="3164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82230" y="3260090"/>
            <a:ext cx="4064000" cy="2768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MMult4*4_12 MMult4*4_13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MMult4*4_14 MMult4*4_15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" y="1590040"/>
            <a:ext cx="6057900" cy="3017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45655" y="687705"/>
            <a:ext cx="3750310" cy="24930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MMult_4x4_12 MMult_4x4_13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对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矩阵进行打包，让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矩阵的子块重新组织为紧凑连续的内存布局，在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InnerKernel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函数中开辟一块栈空间来缓存对应的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矩阵的子块，然后在每次进行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AddDot4*4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函数的使用就传入这个连续的内存，保证了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AddDot4*4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函数对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矩阵子块的访存是连续的顺序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560" y="3414395"/>
            <a:ext cx="4572000" cy="30327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8815" y="554355"/>
            <a:ext cx="5260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MMult4*4_12 MMult4*4_13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MMult4*4_14 MMult4*4_15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七次优化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99250" y="813435"/>
            <a:ext cx="375031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MMult_4x4_14 MMult_4x4_15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矩阵进行打包，让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矩阵也放入一个重新开辟的连续空间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" y="1518285"/>
            <a:ext cx="4549140" cy="2689860"/>
          </a:xfrm>
          <a:prstGeom prst="rect">
            <a:avLst/>
          </a:prstGeom>
        </p:spPr>
      </p:pic>
      <p:pic>
        <p:nvPicPr>
          <p:cNvPr id="7" name="图片 6" descr="物理机器_compare_MMult_4x4_11_MMult_4x4_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19960"/>
            <a:ext cx="4956810" cy="3717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30120" y="4915535"/>
            <a:ext cx="3251200" cy="2768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可以看出有一定的性能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提升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9" name="文本框 6"/>
          <p:cNvSpPr txBox="1"/>
          <p:nvPr/>
        </p:nvSpPr>
        <p:spPr>
          <a:xfrm>
            <a:off x="10810875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sp>
        <p:nvSpPr>
          <p:cNvPr id="360" name="文本框 8"/>
          <p:cNvSpPr txBox="1"/>
          <p:nvPr/>
        </p:nvSpPr>
        <p:spPr>
          <a:xfrm>
            <a:off x="9462728" y="62276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A7A7A7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361" name="图片 12" descr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2" name="文本框 14"/>
          <p:cNvSpPr txBox="1"/>
          <p:nvPr/>
        </p:nvSpPr>
        <p:spPr>
          <a:xfrm>
            <a:off x="649604" y="2481262"/>
            <a:ext cx="6680753" cy="980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6000" spc="560">
                <a:solidFill>
                  <a:srgbClr val="FFFFFF"/>
                </a:solidFill>
                <a:latin typeface="DIN Alternate Bold" panose="020B0500000000000000"/>
                <a:ea typeface="DIN Alternate Bold" panose="020B0500000000000000"/>
                <a:cs typeface="DIN Alternate Bold" panose="020B0500000000000000"/>
                <a:sym typeface="DIN Alternate Bold" panose="020B0500000000000000"/>
              </a:defRPr>
            </a:lvl1pPr>
          </a:lstStyle>
          <a:p>
            <a:r>
              <a:t>THANKS</a:t>
            </a:r>
          </a:p>
        </p:txBody>
      </p:sp>
      <p:pic>
        <p:nvPicPr>
          <p:cNvPr id="36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COMMONDATA" val="eyJoZGlkIjoiMzdlZWUyOGQzM2RiNDY5ODA3MmYyMGM2NmJiOWJjM2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SimSun"/>
        <a:ea typeface="SimSun"/>
        <a:cs typeface="SimSun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SimSun"/>
        <a:ea typeface="SimSun"/>
        <a:cs typeface="SimSun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2805</Words>
  <Application>WPS 演示</Application>
  <PresentationFormat>宽屏</PresentationFormat>
  <Paragraphs>137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Arial</vt:lpstr>
      <vt:lpstr>Helvetica</vt:lpstr>
      <vt:lpstr>PingFang SC Semibold</vt:lpstr>
      <vt:lpstr>PingFang SC Regular</vt:lpstr>
      <vt:lpstr>DIN-Medium</vt:lpstr>
      <vt:lpstr>Segoe Print</vt:lpstr>
      <vt:lpstr>PingFang SC Medium</vt:lpstr>
      <vt:lpstr>Times New Roman</vt:lpstr>
      <vt:lpstr>Cambria Math</vt:lpstr>
      <vt:lpstr>微软雅黑</vt:lpstr>
      <vt:lpstr>Arial Unicode MS</vt:lpstr>
      <vt:lpstr>Source Han Serif</vt:lpstr>
      <vt:lpstr>DIN Alternate Bold</vt:lpstr>
      <vt:lpstr>Segoe UI 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心理＆治愈</cp:lastModifiedBy>
  <cp:revision>113</cp:revision>
  <dcterms:created xsi:type="dcterms:W3CDTF">2024-08-30T02:57:00Z</dcterms:created>
  <dcterms:modified xsi:type="dcterms:W3CDTF">2025-07-11T08:02:50Z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A099C39B5EC34612ABEC7CA2C3C1FE48_13</vt:lpwstr>
  </property>
  <property fmtid="{D5CDD505-2E9C-101B-9397-08002B2CF9AE}" pid="3" name="KSOProductBuildVer">
    <vt:lpwstr>2052-12.1.0.21915</vt:lpwstr>
  </property>
</Properties>
</file>